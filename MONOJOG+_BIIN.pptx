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Cambria Bold" pitchFamily="18" charset="0"/>
      <p:bold r:id="rId21"/>
    </p:embeddedFont>
    <p:embeddedFont>
      <p:font typeface="Calibri (MS)" charset="0"/>
      <p:regular r:id="rId22"/>
    </p:embeddedFont>
    <p:embeddedFont>
      <p:font typeface="Calibri (MS) Bold" charset="0"/>
      <p:regular r:id="rId23"/>
    </p:embeddedFont>
    <p:embeddedFont>
      <p:font typeface="Calibri (MS) Italics" charset="0"/>
      <p:regular r:id="rId24"/>
    </p:embeddedFont>
    <p:embeddedFont>
      <p:font typeface="Calibri" pitchFamily="34" charset="0"/>
      <p:regular r:id="rId25"/>
      <p:bold r:id="rId26"/>
      <p:italic r:id="rId27"/>
      <p:boldItalic r:id="rId28"/>
    </p:embeddedFont>
    <p:embeddedFont>
      <p:font typeface="Canva Sans Bold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-65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19.09.2026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0:00–0:30 | Greet the judges. Introduce MONOJOG+ as an EEG-based attention development platform for children with autism and special needs, entered under Inclusion &amp; Community Services. Set up the 8-minute flow: problem, solution, technology, live demo, impact.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0:30–1:30 | Frame the human problem first, then the systemic gap. Keep this conversational — this is the emotional hook of the pitch.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1:30–2:30 | Introduce the Sense–Engage–Understand loop. Explicitly state the careful, evidence-based positioning line — judges will appreciate the ethical framing.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2:30–3:15 | Move quickly through this grid — pick 3 of the 8 to say out loud (real-time EEG, adaptive games, affordability) and let the slide carry the rest visually.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3:15–4:00 | Walk left to right: headset acquires signal, ESP32 processes &amp; transmits, cloud stores &amp; analyzes, then three tailored dashboards — student, teacher, parent.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4:00–4:40 | Show the stack quickly; use the circuit diagram to prove this is real embedded hardware, not a concept mockup.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5:10–5:45 | Emphasize careful language: 'supports', 'assists', 'measures' — never 'treats' or 'cures'.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5:45–6:15 | Land on the middle column of MONOJOG+ — 'we combine the objectivity of clinical EEG with the accessibility special-needs families actually need.'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7:00–7:20 | Point to the dashboard screenshot: 'this is the same interface running live in the demo.' Keep brief — the live demo already made this point.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6:15–7:00 | This is the live demo cue. If presenting a physical unit, hand it around or invite a judge to try it now while narrating the three photos as 'proof this already works in the field'.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7:20–7:40 | Show maturity: acknowledge this needs a proper pilot before making outcome claims. Judges reward honesty about the evidence stage.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7:40–7:50 | Quick, warm team introduction. Credit the supervisor by name.</a:t>
            </a:r>
          </a:p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7:50–8:00 | Close warmly, invite questions and offer the physical unit for hands-on trial.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6.png"/><Relationship Id="rId5" Type="http://schemas.openxmlformats.org/officeDocument/2006/relationships/image" Target="../media/image8.png"/><Relationship Id="rId10" Type="http://schemas.openxmlformats.org/officeDocument/2006/relationships/image" Target="../media/image16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jpeg"/><Relationship Id="rId7" Type="http://schemas.openxmlformats.org/officeDocument/2006/relationships/image" Target="../media/image19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0" Type="http://schemas.openxmlformats.org/officeDocument/2006/relationships/image" Target="../media/image21.png"/><Relationship Id="rId4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28.png"/><Relationship Id="rId4" Type="http://schemas.openxmlformats.org/officeDocument/2006/relationships/image" Target="../media/image12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.jpe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MONOJOG+ cover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6" b="-2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787251" y="717739"/>
            <a:ext cx="7177554" cy="596299"/>
          </a:xfrm>
          <a:custGeom>
            <a:avLst/>
            <a:gdLst/>
            <a:ahLst/>
            <a:cxnLst/>
            <a:rect l="l" t="t" r="r" b="b"/>
            <a:pathLst>
              <a:path w="7177554" h="596299">
                <a:moveTo>
                  <a:pt x="0" y="0"/>
                </a:moveTo>
                <a:lnTo>
                  <a:pt x="7177554" y="0"/>
                </a:lnTo>
                <a:lnTo>
                  <a:pt x="7177554" y="596299"/>
                </a:lnTo>
                <a:lnTo>
                  <a:pt x="0" y="5962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089" t="-112499" r="-127151" b="-1394642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6230143" y="-685800"/>
            <a:ext cx="3017520" cy="3017520"/>
            <a:chOff x="0" y="0"/>
            <a:chExt cx="4023360" cy="4023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23360" cy="4023360"/>
            </a:xfrm>
            <a:custGeom>
              <a:avLst/>
              <a:gdLst/>
              <a:ahLst/>
              <a:cxnLst/>
              <a:rect l="l" t="t" r="r" b="b"/>
              <a:pathLst>
                <a:path w="4023360" h="4023360">
                  <a:moveTo>
                    <a:pt x="0" y="4023360"/>
                  </a:moveTo>
                  <a:lnTo>
                    <a:pt x="2011680" y="0"/>
                  </a:lnTo>
                  <a:lnTo>
                    <a:pt x="4023360" y="4023360"/>
                  </a:lnTo>
                  <a:close/>
                </a:path>
              </a:pathLst>
            </a:custGeom>
            <a:solidFill>
              <a:srgbClr val="1C7293">
                <a:alpha val="784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-822960" y="8366760"/>
            <a:ext cx="2468880" cy="2468880"/>
            <a:chOff x="0" y="0"/>
            <a:chExt cx="3291840" cy="3291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91840" cy="3291840"/>
            </a:xfrm>
            <a:custGeom>
              <a:avLst/>
              <a:gdLst/>
              <a:ahLst/>
              <a:cxnLst/>
              <a:rect l="l" t="t" r="r" b="b"/>
              <a:pathLst>
                <a:path w="3291840" h="3291840">
                  <a:moveTo>
                    <a:pt x="0" y="3291840"/>
                  </a:moveTo>
                  <a:lnTo>
                    <a:pt x="1645920" y="0"/>
                  </a:lnTo>
                  <a:lnTo>
                    <a:pt x="3291840" y="3291840"/>
                  </a:lnTo>
                  <a:close/>
                </a:path>
              </a:pathLst>
            </a:custGeom>
            <a:solidFill>
              <a:srgbClr val="F2994A">
                <a:alpha val="392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54380" y="685800"/>
            <a:ext cx="123444" cy="438912"/>
            <a:chOff x="0" y="0"/>
            <a:chExt cx="164592" cy="5852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92" cy="585216"/>
            </a:xfrm>
            <a:custGeom>
              <a:avLst/>
              <a:gdLst/>
              <a:ahLst/>
              <a:cxnLst/>
              <a:rect l="l" t="t" r="r" b="b"/>
              <a:pathLst>
                <a:path w="164592" h="585216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91440" y="0"/>
                  </a:lnTo>
                  <a:cubicBezTo>
                    <a:pt x="131826" y="0"/>
                    <a:pt x="164592" y="32766"/>
                    <a:pt x="164592" y="73152"/>
                  </a:cubicBezTo>
                  <a:lnTo>
                    <a:pt x="164592" y="512064"/>
                  </a:lnTo>
                  <a:cubicBezTo>
                    <a:pt x="164592" y="552450"/>
                    <a:pt x="131826" y="585216"/>
                    <a:pt x="91440" y="585216"/>
                  </a:cubicBezTo>
                  <a:lnTo>
                    <a:pt x="73152" y="585216"/>
                  </a:lnTo>
                  <a:cubicBezTo>
                    <a:pt x="32766" y="585216"/>
                    <a:pt x="0" y="552450"/>
                    <a:pt x="0" y="5120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28700" y="603504"/>
            <a:ext cx="10972800" cy="548640"/>
            <a:chOff x="0" y="0"/>
            <a:chExt cx="14630400" cy="731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4380" y="187128"/>
            <a:ext cx="14401800" cy="3303594"/>
            <a:chOff x="0" y="0"/>
            <a:chExt cx="19202400" cy="440479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202400" cy="4404792"/>
            </a:xfrm>
            <a:custGeom>
              <a:avLst/>
              <a:gdLst/>
              <a:ahLst/>
              <a:cxnLst/>
              <a:rect l="l" t="t" r="r" b="b"/>
              <a:pathLst>
                <a:path w="19202400" h="4404792">
                  <a:moveTo>
                    <a:pt x="0" y="0"/>
                  </a:moveTo>
                  <a:lnTo>
                    <a:pt x="19202400" y="0"/>
                  </a:lnTo>
                  <a:lnTo>
                    <a:pt x="192024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298" b="-2589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9202400" cy="4423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Attention Is Hard to See, Even Harder to Measure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4380" y="2537460"/>
            <a:ext cx="8709660" cy="3223260"/>
            <a:chOff x="0" y="0"/>
            <a:chExt cx="11612880" cy="42976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612880" cy="4297680"/>
            </a:xfrm>
            <a:custGeom>
              <a:avLst/>
              <a:gdLst/>
              <a:ahLst/>
              <a:cxnLst/>
              <a:rect l="l" t="t" r="r" b="b"/>
              <a:pathLst>
                <a:path w="11612880" h="4297680">
                  <a:moveTo>
                    <a:pt x="0" y="0"/>
                  </a:moveTo>
                  <a:lnTo>
                    <a:pt x="11612880" y="0"/>
                  </a:lnTo>
                  <a:lnTo>
                    <a:pt x="11612880" y="4297680"/>
                  </a:lnTo>
                  <a:lnTo>
                    <a:pt x="0" y="429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51" b="-265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14300"/>
              <a:ext cx="11612880" cy="44119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40"/>
                </a:lnSpc>
              </a:pPr>
              <a:r>
                <a:rPr lang="en-US" sz="2175">
                  <a:solidFill>
                    <a:srgbClr val="1A22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Children with Autism Spectrum Disorder (ASD), ADHD, and other neurodevelopmental conditions often struggle to sustain attention during learning and therapy. Today, most assessment still depends on a therapist's subjective observation. There is no everyday, objective way to see what is actually happening inside a child's brain during an activity.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54380" y="5966460"/>
            <a:ext cx="8709660" cy="2537460"/>
            <a:chOff x="0" y="0"/>
            <a:chExt cx="11612880" cy="33832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612880" cy="3383280"/>
            </a:xfrm>
            <a:custGeom>
              <a:avLst/>
              <a:gdLst/>
              <a:ahLst/>
              <a:cxnLst/>
              <a:rect l="l" t="t" r="r" b="b"/>
              <a:pathLst>
                <a:path w="11612880" h="33832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1430000" y="0"/>
                  </a:lnTo>
                  <a:cubicBezTo>
                    <a:pt x="11530965" y="0"/>
                    <a:pt x="11612880" y="81915"/>
                    <a:pt x="11612880" y="182880"/>
                  </a:cubicBezTo>
                  <a:lnTo>
                    <a:pt x="11612880" y="3200400"/>
                  </a:lnTo>
                  <a:cubicBezTo>
                    <a:pt x="11612880" y="3301365"/>
                    <a:pt x="11530965" y="3383280"/>
                    <a:pt x="11430000" y="3383280"/>
                  </a:cubicBezTo>
                  <a:lnTo>
                    <a:pt x="182880" y="3383280"/>
                  </a:lnTo>
                  <a:cubicBezTo>
                    <a:pt x="81915" y="3383280"/>
                    <a:pt x="0" y="3301365"/>
                    <a:pt x="0" y="3200400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165860" y="6309360"/>
            <a:ext cx="7955280" cy="1920240"/>
            <a:chOff x="0" y="0"/>
            <a:chExt cx="10607040" cy="25603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607040" cy="2560320"/>
            </a:xfrm>
            <a:custGeom>
              <a:avLst/>
              <a:gdLst/>
              <a:ahLst/>
              <a:cxnLst/>
              <a:rect l="l" t="t" r="r" b="b"/>
              <a:pathLst>
                <a:path w="10607040" h="2560320">
                  <a:moveTo>
                    <a:pt x="0" y="0"/>
                  </a:moveTo>
                  <a:lnTo>
                    <a:pt x="10607040" y="0"/>
                  </a:lnTo>
                  <a:lnTo>
                    <a:pt x="1060704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723" b="-30723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0"/>
              <a:ext cx="10607040" cy="2655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37"/>
                </a:lnSpc>
              </a:pPr>
              <a:r>
                <a:rPr lang="en-US" sz="2025" b="1">
                  <a:solidFill>
                    <a:srgbClr val="F299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gap: </a:t>
              </a:r>
              <a:r>
                <a:rPr lang="en-US" sz="2025">
                  <a:solidFill>
                    <a:srgbClr val="E7EE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engagement tools that both monitor attention AND actively help a child build it ,  affordably and outside the clinic,  are largely unavailable to families and special-needs schools in Bangladesh.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081260" y="2537460"/>
            <a:ext cx="850392" cy="850392"/>
            <a:chOff x="0" y="0"/>
            <a:chExt cx="1133856" cy="113385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0285352" y="2741552"/>
            <a:ext cx="442208" cy="442208"/>
            <a:chOff x="0" y="0"/>
            <a:chExt cx="589610" cy="589610"/>
          </a:xfrm>
        </p:grpSpPr>
        <p:sp>
          <p:nvSpPr>
            <p:cNvPr id="25" name="Freeform 25" descr="/home/claude/work/icons/puzzle.png"/>
            <p:cNvSpPr/>
            <p:nvPr/>
          </p:nvSpPr>
          <p:spPr>
            <a:xfrm>
              <a:off x="0" y="0"/>
              <a:ext cx="589661" cy="589661"/>
            </a:xfrm>
            <a:custGeom>
              <a:avLst/>
              <a:gdLst/>
              <a:ahLst/>
              <a:cxnLst/>
              <a:rect l="l" t="t" r="r" b="b"/>
              <a:pathLst>
                <a:path w="589661" h="589661">
                  <a:moveTo>
                    <a:pt x="0" y="0"/>
                  </a:moveTo>
                  <a:lnTo>
                    <a:pt x="589661" y="0"/>
                  </a:lnTo>
                  <a:lnTo>
                    <a:pt x="589661" y="589661"/>
                  </a:lnTo>
                  <a:lnTo>
                    <a:pt x="0" y="589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8" b="8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11178540" y="2496312"/>
            <a:ext cx="6309360" cy="480060"/>
            <a:chOff x="0" y="0"/>
            <a:chExt cx="8412480" cy="6400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412480" cy="640080"/>
            </a:xfrm>
            <a:custGeom>
              <a:avLst/>
              <a:gdLst/>
              <a:ahLst/>
              <a:cxnLst/>
              <a:rect l="l" t="t" r="r" b="b"/>
              <a:pathLst>
                <a:path w="8412480" h="640080">
                  <a:moveTo>
                    <a:pt x="0" y="0"/>
                  </a:moveTo>
                  <a:lnTo>
                    <a:pt x="8412480" y="0"/>
                  </a:lnTo>
                  <a:lnTo>
                    <a:pt x="8412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089" b="-206089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841248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Invisible struggle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178540" y="2976372"/>
            <a:ext cx="6377940" cy="1028700"/>
            <a:chOff x="0" y="0"/>
            <a:chExt cx="8503920" cy="13716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503920" cy="1371600"/>
            </a:xfrm>
            <a:custGeom>
              <a:avLst/>
              <a:gdLst/>
              <a:ahLst/>
              <a:cxnLst/>
              <a:rect l="l" t="t" r="r" b="b"/>
              <a:pathLst>
                <a:path w="8503920" h="1371600">
                  <a:moveTo>
                    <a:pt x="0" y="0"/>
                  </a:moveTo>
                  <a:lnTo>
                    <a:pt x="8503920" y="0"/>
                  </a:lnTo>
                  <a:lnTo>
                    <a:pt x="85039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807" b="-70807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66675"/>
              <a:ext cx="8503920" cy="1438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Attention &amp; focus difficulties in ASD/ADHD are common but hard to quantify objectively.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081260" y="4114800"/>
            <a:ext cx="850392" cy="850392"/>
            <a:chOff x="0" y="0"/>
            <a:chExt cx="1133856" cy="113385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0285352" y="4318892"/>
            <a:ext cx="442208" cy="442208"/>
            <a:chOff x="0" y="0"/>
            <a:chExt cx="589610" cy="589610"/>
          </a:xfrm>
        </p:grpSpPr>
        <p:sp>
          <p:nvSpPr>
            <p:cNvPr id="35" name="Freeform 35" descr="/home/claude/work/icons/eye.png"/>
            <p:cNvSpPr/>
            <p:nvPr/>
          </p:nvSpPr>
          <p:spPr>
            <a:xfrm>
              <a:off x="0" y="0"/>
              <a:ext cx="589661" cy="589661"/>
            </a:xfrm>
            <a:custGeom>
              <a:avLst/>
              <a:gdLst/>
              <a:ahLst/>
              <a:cxnLst/>
              <a:rect l="l" t="t" r="r" b="b"/>
              <a:pathLst>
                <a:path w="589661" h="589661">
                  <a:moveTo>
                    <a:pt x="0" y="0"/>
                  </a:moveTo>
                  <a:lnTo>
                    <a:pt x="589661" y="0"/>
                  </a:lnTo>
                  <a:lnTo>
                    <a:pt x="589661" y="589661"/>
                  </a:lnTo>
                  <a:lnTo>
                    <a:pt x="0" y="589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8" b="8"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11178540" y="4073652"/>
            <a:ext cx="6309360" cy="480060"/>
            <a:chOff x="0" y="0"/>
            <a:chExt cx="8412480" cy="64008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412480" cy="640080"/>
            </a:xfrm>
            <a:custGeom>
              <a:avLst/>
              <a:gdLst/>
              <a:ahLst/>
              <a:cxnLst/>
              <a:rect l="l" t="t" r="r" b="b"/>
              <a:pathLst>
                <a:path w="8412480" h="640080">
                  <a:moveTo>
                    <a:pt x="0" y="0"/>
                  </a:moveTo>
                  <a:lnTo>
                    <a:pt x="8412480" y="0"/>
                  </a:lnTo>
                  <a:lnTo>
                    <a:pt x="8412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089" b="-206089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841248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Subjective assessment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178540" y="4553712"/>
            <a:ext cx="6377940" cy="1028700"/>
            <a:chOff x="0" y="0"/>
            <a:chExt cx="8503920" cy="13716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503920" cy="1371600"/>
            </a:xfrm>
            <a:custGeom>
              <a:avLst/>
              <a:gdLst/>
              <a:ahLst/>
              <a:cxnLst/>
              <a:rect l="l" t="t" r="r" b="b"/>
              <a:pathLst>
                <a:path w="8503920" h="1371600">
                  <a:moveTo>
                    <a:pt x="0" y="0"/>
                  </a:moveTo>
                  <a:lnTo>
                    <a:pt x="8503920" y="0"/>
                  </a:lnTo>
                  <a:lnTo>
                    <a:pt x="85039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807" b="-70807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66675"/>
              <a:ext cx="8503920" cy="1438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Progress is judged mostly by observation — inconsistent across therapists and sessions.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081260" y="5692140"/>
            <a:ext cx="850392" cy="850392"/>
            <a:chOff x="0" y="0"/>
            <a:chExt cx="1133856" cy="113385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0285352" y="5896232"/>
            <a:ext cx="442208" cy="442208"/>
            <a:chOff x="0" y="0"/>
            <a:chExt cx="589610" cy="589610"/>
          </a:xfrm>
        </p:grpSpPr>
        <p:sp>
          <p:nvSpPr>
            <p:cNvPr id="45" name="Freeform 45" descr="/home/claude/work/icons/dollar.png"/>
            <p:cNvSpPr/>
            <p:nvPr/>
          </p:nvSpPr>
          <p:spPr>
            <a:xfrm>
              <a:off x="0" y="0"/>
              <a:ext cx="589661" cy="589661"/>
            </a:xfrm>
            <a:custGeom>
              <a:avLst/>
              <a:gdLst/>
              <a:ahLst/>
              <a:cxnLst/>
              <a:rect l="l" t="t" r="r" b="b"/>
              <a:pathLst>
                <a:path w="589661" h="589661">
                  <a:moveTo>
                    <a:pt x="0" y="0"/>
                  </a:moveTo>
                  <a:lnTo>
                    <a:pt x="589661" y="0"/>
                  </a:lnTo>
                  <a:lnTo>
                    <a:pt x="589661" y="589661"/>
                  </a:lnTo>
                  <a:lnTo>
                    <a:pt x="0" y="589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8" b="8"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11178540" y="5650992"/>
            <a:ext cx="6309360" cy="480060"/>
            <a:chOff x="0" y="0"/>
            <a:chExt cx="8412480" cy="64008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412480" cy="640080"/>
            </a:xfrm>
            <a:custGeom>
              <a:avLst/>
              <a:gdLst/>
              <a:ahLst/>
              <a:cxnLst/>
              <a:rect l="l" t="t" r="r" b="b"/>
              <a:pathLst>
                <a:path w="8412480" h="640080">
                  <a:moveTo>
                    <a:pt x="0" y="0"/>
                  </a:moveTo>
                  <a:lnTo>
                    <a:pt x="8412480" y="0"/>
                  </a:lnTo>
                  <a:lnTo>
                    <a:pt x="8412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089" b="-206089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841248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Costly clinical EEG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1178540" y="6131052"/>
            <a:ext cx="6377940" cy="1028700"/>
            <a:chOff x="0" y="0"/>
            <a:chExt cx="8503920" cy="13716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503920" cy="1371600"/>
            </a:xfrm>
            <a:custGeom>
              <a:avLst/>
              <a:gdLst/>
              <a:ahLst/>
              <a:cxnLst/>
              <a:rect l="l" t="t" r="r" b="b"/>
              <a:pathLst>
                <a:path w="8503920" h="1371600">
                  <a:moveTo>
                    <a:pt x="0" y="0"/>
                  </a:moveTo>
                  <a:lnTo>
                    <a:pt x="8503920" y="0"/>
                  </a:lnTo>
                  <a:lnTo>
                    <a:pt x="85039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807" b="-70807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66675"/>
              <a:ext cx="8503920" cy="1438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Lab-grade EEG/BCI systems are expensive, complex, and unsuited to daily therapy use.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081260" y="7269480"/>
            <a:ext cx="850392" cy="850392"/>
            <a:chOff x="0" y="0"/>
            <a:chExt cx="1133856" cy="113385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0285352" y="7473572"/>
            <a:ext cx="442208" cy="442208"/>
            <a:chOff x="0" y="0"/>
            <a:chExt cx="589610" cy="589610"/>
          </a:xfrm>
        </p:grpSpPr>
        <p:sp>
          <p:nvSpPr>
            <p:cNvPr id="55" name="Freeform 55" descr="/home/claude/work/icons/home.png"/>
            <p:cNvSpPr/>
            <p:nvPr/>
          </p:nvSpPr>
          <p:spPr>
            <a:xfrm>
              <a:off x="0" y="0"/>
              <a:ext cx="589661" cy="589661"/>
            </a:xfrm>
            <a:custGeom>
              <a:avLst/>
              <a:gdLst/>
              <a:ahLst/>
              <a:cxnLst/>
              <a:rect l="l" t="t" r="r" b="b"/>
              <a:pathLst>
                <a:path w="589661" h="589661">
                  <a:moveTo>
                    <a:pt x="0" y="0"/>
                  </a:moveTo>
                  <a:lnTo>
                    <a:pt x="589661" y="0"/>
                  </a:lnTo>
                  <a:lnTo>
                    <a:pt x="589661" y="589661"/>
                  </a:lnTo>
                  <a:lnTo>
                    <a:pt x="0" y="589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8" b="8"/>
              </a:stretch>
            </a:blipFill>
          </p:spPr>
        </p:sp>
      </p:grpSp>
      <p:grpSp>
        <p:nvGrpSpPr>
          <p:cNvPr id="56" name="Group 56"/>
          <p:cNvGrpSpPr/>
          <p:nvPr/>
        </p:nvGrpSpPr>
        <p:grpSpPr>
          <a:xfrm>
            <a:off x="11178540" y="7228332"/>
            <a:ext cx="6309360" cy="480060"/>
            <a:chOff x="0" y="0"/>
            <a:chExt cx="8412480" cy="64008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412480" cy="640080"/>
            </a:xfrm>
            <a:custGeom>
              <a:avLst/>
              <a:gdLst/>
              <a:ahLst/>
              <a:cxnLst/>
              <a:rect l="l" t="t" r="r" b="b"/>
              <a:pathLst>
                <a:path w="8412480" h="640080">
                  <a:moveTo>
                    <a:pt x="0" y="0"/>
                  </a:moveTo>
                  <a:lnTo>
                    <a:pt x="8412480" y="0"/>
                  </a:lnTo>
                  <a:lnTo>
                    <a:pt x="8412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089" b="-206089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47625"/>
              <a:ext cx="841248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Limited home access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1178540" y="7708392"/>
            <a:ext cx="6377940" cy="1028700"/>
            <a:chOff x="0" y="0"/>
            <a:chExt cx="8503920" cy="13716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503920" cy="1371600"/>
            </a:xfrm>
            <a:custGeom>
              <a:avLst/>
              <a:gdLst/>
              <a:ahLst/>
              <a:cxnLst/>
              <a:rect l="l" t="t" r="r" b="b"/>
              <a:pathLst>
                <a:path w="8503920" h="1371600">
                  <a:moveTo>
                    <a:pt x="0" y="0"/>
                  </a:moveTo>
                  <a:lnTo>
                    <a:pt x="8503920" y="0"/>
                  </a:lnTo>
                  <a:lnTo>
                    <a:pt x="85039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807" b="-70807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66675"/>
              <a:ext cx="8503920" cy="1438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Families &amp; special schools lack affordable tools to track engagement outside the clinic.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754380" y="9601200"/>
            <a:ext cx="4114800" cy="480060"/>
            <a:chOff x="0" y="0"/>
            <a:chExt cx="5486400" cy="64008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486400" cy="640080"/>
            </a:xfrm>
            <a:custGeom>
              <a:avLst/>
              <a:gdLst/>
              <a:ahLst/>
              <a:cxnLst/>
              <a:rect l="l" t="t" r="r" b="b"/>
              <a:pathLst>
                <a:path w="5486400" h="640080">
                  <a:moveTo>
                    <a:pt x="0" y="0"/>
                  </a:moveTo>
                  <a:lnTo>
                    <a:pt x="5486400" y="0"/>
                  </a:lnTo>
                  <a:lnTo>
                    <a:pt x="5486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14" b="-117014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54864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50">
                  <a:solidFill>
                    <a:srgbClr val="5B6B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MONOJOG+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7053103" y="9601200"/>
            <a:ext cx="822960" cy="480060"/>
            <a:chOff x="0" y="0"/>
            <a:chExt cx="1097280" cy="64008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6230143" y="-685800"/>
            <a:ext cx="3017520" cy="3017520"/>
            <a:chOff x="0" y="0"/>
            <a:chExt cx="4023360" cy="4023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23360" cy="4023360"/>
            </a:xfrm>
            <a:custGeom>
              <a:avLst/>
              <a:gdLst/>
              <a:ahLst/>
              <a:cxnLst/>
              <a:rect l="l" t="t" r="r" b="b"/>
              <a:pathLst>
                <a:path w="4023360" h="4023360">
                  <a:moveTo>
                    <a:pt x="0" y="4023360"/>
                  </a:moveTo>
                  <a:lnTo>
                    <a:pt x="2011680" y="0"/>
                  </a:lnTo>
                  <a:lnTo>
                    <a:pt x="4023360" y="4023360"/>
                  </a:lnTo>
                  <a:close/>
                </a:path>
              </a:pathLst>
            </a:custGeom>
            <a:solidFill>
              <a:srgbClr val="1C7293">
                <a:alpha val="784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-822960" y="8366760"/>
            <a:ext cx="2468880" cy="2468880"/>
            <a:chOff x="0" y="0"/>
            <a:chExt cx="3291840" cy="3291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91840" cy="3291840"/>
            </a:xfrm>
            <a:custGeom>
              <a:avLst/>
              <a:gdLst/>
              <a:ahLst/>
              <a:cxnLst/>
              <a:rect l="l" t="t" r="r" b="b"/>
              <a:pathLst>
                <a:path w="3291840" h="3291840">
                  <a:moveTo>
                    <a:pt x="0" y="3291840"/>
                  </a:moveTo>
                  <a:lnTo>
                    <a:pt x="1645920" y="0"/>
                  </a:lnTo>
                  <a:lnTo>
                    <a:pt x="3291840" y="3291840"/>
                  </a:lnTo>
                  <a:close/>
                </a:path>
              </a:pathLst>
            </a:custGeom>
            <a:solidFill>
              <a:srgbClr val="F2994A">
                <a:alpha val="392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54380" y="685800"/>
            <a:ext cx="123444" cy="438912"/>
            <a:chOff x="0" y="0"/>
            <a:chExt cx="164592" cy="5852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92" cy="585216"/>
            </a:xfrm>
            <a:custGeom>
              <a:avLst/>
              <a:gdLst/>
              <a:ahLst/>
              <a:cxnLst/>
              <a:rect l="l" t="t" r="r" b="b"/>
              <a:pathLst>
                <a:path w="164592" h="585216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91440" y="0"/>
                  </a:lnTo>
                  <a:cubicBezTo>
                    <a:pt x="131826" y="0"/>
                    <a:pt x="164592" y="32766"/>
                    <a:pt x="164592" y="73152"/>
                  </a:cubicBezTo>
                  <a:lnTo>
                    <a:pt x="164592" y="512064"/>
                  </a:lnTo>
                  <a:cubicBezTo>
                    <a:pt x="164592" y="552450"/>
                    <a:pt x="131826" y="585216"/>
                    <a:pt x="91440" y="585216"/>
                  </a:cubicBezTo>
                  <a:lnTo>
                    <a:pt x="73152" y="585216"/>
                  </a:lnTo>
                  <a:cubicBezTo>
                    <a:pt x="32766" y="585216"/>
                    <a:pt x="0" y="552450"/>
                    <a:pt x="0" y="512064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28700" y="603504"/>
            <a:ext cx="10972800" cy="548640"/>
            <a:chOff x="0" y="0"/>
            <a:chExt cx="14630400" cy="731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 spc="300">
                  <a:solidFill>
                    <a:srgbClr val="F299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SOLUTION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4380" y="1238250"/>
            <a:ext cx="14401800" cy="1165860"/>
            <a:chOff x="0" y="0"/>
            <a:chExt cx="19202400" cy="15544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202400" cy="1554480"/>
            </a:xfrm>
            <a:custGeom>
              <a:avLst/>
              <a:gdLst/>
              <a:ahLst/>
              <a:cxnLst/>
              <a:rect l="l" t="t" r="r" b="b"/>
              <a:pathLst>
                <a:path w="19202400" h="1554480">
                  <a:moveTo>
                    <a:pt x="0" y="0"/>
                  </a:moveTo>
                  <a:lnTo>
                    <a:pt x="19202400" y="0"/>
                  </a:lnTo>
                  <a:lnTo>
                    <a:pt x="19202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697" b="-19069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9202400" cy="1573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MONOJOG+: Wearable EEG Meets Adaptive Therapy Games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4380" y="2537460"/>
            <a:ext cx="7612380" cy="3977640"/>
            <a:chOff x="0" y="0"/>
            <a:chExt cx="10149840" cy="53035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149840" cy="5303520"/>
            </a:xfrm>
            <a:custGeom>
              <a:avLst/>
              <a:gdLst/>
              <a:ahLst/>
              <a:cxnLst/>
              <a:rect l="l" t="t" r="r" b="b"/>
              <a:pathLst>
                <a:path w="10149840" h="5303520">
                  <a:moveTo>
                    <a:pt x="0" y="0"/>
                  </a:moveTo>
                  <a:lnTo>
                    <a:pt x="10149840" y="0"/>
                  </a:lnTo>
                  <a:lnTo>
                    <a:pt x="10149840" y="5303520"/>
                  </a:lnTo>
                  <a:lnTo>
                    <a:pt x="0" y="5303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041" r="-1704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14300"/>
              <a:ext cx="10149840" cy="54178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76"/>
                </a:lnSpc>
              </a:pPr>
              <a:r>
                <a:rPr lang="en-US" sz="2100">
                  <a:solidFill>
                    <a:srgbClr val="1A22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MONOJOG+ is a neurotechnology platform that pairs a non-invasive wearable EEG headset with AI-assisted signal analysis and interactive cognitive-training games. As a child plays, the device reads real-time brainwave activity, estimates attention and engagement, and lets the game adapt accordingly. This turns brain data into an active part of the therapy session rather than just a passive readout.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45920" y="9052560"/>
            <a:ext cx="4937760" cy="411480"/>
            <a:chOff x="0" y="0"/>
            <a:chExt cx="6583680" cy="5486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583680" cy="548640"/>
            </a:xfrm>
            <a:custGeom>
              <a:avLst/>
              <a:gdLst/>
              <a:ahLst/>
              <a:cxnLst/>
              <a:rect l="l" t="t" r="r" b="b"/>
              <a:pathLst>
                <a:path w="6583680" h="54864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820" b="-18382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65836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i="1">
                  <a:solidFill>
                    <a:srgbClr val="5B6B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MONOJOG+ wearable EEG headband prototype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974455" y="2596515"/>
            <a:ext cx="2830830" cy="4065270"/>
            <a:chOff x="0" y="0"/>
            <a:chExt cx="3774440" cy="54203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774440" cy="5420360"/>
            </a:xfrm>
            <a:custGeom>
              <a:avLst/>
              <a:gdLst/>
              <a:ahLst/>
              <a:cxnLst/>
              <a:rect l="l" t="t" r="r" b="b"/>
              <a:pathLst>
                <a:path w="3774440" h="542036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3553460" y="0"/>
                  </a:lnTo>
                  <a:cubicBezTo>
                    <a:pt x="3675507" y="0"/>
                    <a:pt x="3774440" y="98933"/>
                    <a:pt x="3774440" y="220980"/>
                  </a:cubicBezTo>
                  <a:lnTo>
                    <a:pt x="3774440" y="5199380"/>
                  </a:lnTo>
                  <a:cubicBezTo>
                    <a:pt x="3774440" y="5321427"/>
                    <a:pt x="3675507" y="5420360"/>
                    <a:pt x="3553460" y="5420360"/>
                  </a:cubicBezTo>
                  <a:lnTo>
                    <a:pt x="220980" y="5420360"/>
                  </a:lnTo>
                  <a:cubicBezTo>
                    <a:pt x="98933" y="5420360"/>
                    <a:pt x="0" y="5321427"/>
                    <a:pt x="0" y="519938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D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9971532" y="2948940"/>
            <a:ext cx="822960" cy="822960"/>
            <a:chOff x="0" y="0"/>
            <a:chExt cx="1097280" cy="10972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0169042" y="3146450"/>
            <a:ext cx="427939" cy="427939"/>
            <a:chOff x="0" y="0"/>
            <a:chExt cx="570586" cy="570586"/>
          </a:xfrm>
        </p:grpSpPr>
        <p:sp>
          <p:nvSpPr>
            <p:cNvPr id="25" name="Freeform 25" descr="/home/claude/work/icons/brain.png"/>
            <p:cNvSpPr/>
            <p:nvPr/>
          </p:nvSpPr>
          <p:spPr>
            <a:xfrm>
              <a:off x="0" y="0"/>
              <a:ext cx="570611" cy="570611"/>
            </a:xfrm>
            <a:custGeom>
              <a:avLst/>
              <a:gdLst/>
              <a:ahLst/>
              <a:cxnLst/>
              <a:rect l="l" t="t" r="r" b="b"/>
              <a:pathLst>
                <a:path w="570611" h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4" b="4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9189720" y="4046220"/>
            <a:ext cx="2400300" cy="480060"/>
            <a:chOff x="0" y="0"/>
            <a:chExt cx="3200400" cy="6400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200400" cy="640080"/>
            </a:xfrm>
            <a:custGeom>
              <a:avLst/>
              <a:gdLst/>
              <a:ahLst/>
              <a:cxnLst/>
              <a:rect l="l" t="t" r="r" b="b"/>
              <a:pathLst>
                <a:path w="3200400" h="640080">
                  <a:moveTo>
                    <a:pt x="0" y="0"/>
                  </a:moveTo>
                  <a:lnTo>
                    <a:pt x="3200400" y="0"/>
                  </a:lnTo>
                  <a:lnTo>
                    <a:pt x="320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32004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Sense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189720" y="4553712"/>
            <a:ext cx="2400300" cy="1920240"/>
            <a:chOff x="0" y="0"/>
            <a:chExt cx="3200400" cy="25603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200400" cy="2560320"/>
            </a:xfrm>
            <a:custGeom>
              <a:avLst/>
              <a:gdLst/>
              <a:ahLst/>
              <a:cxnLst/>
              <a:rect l="l" t="t" r="r" b="b"/>
              <a:pathLst>
                <a:path w="3200400" h="2560320">
                  <a:moveTo>
                    <a:pt x="0" y="0"/>
                  </a:moveTo>
                  <a:lnTo>
                    <a:pt x="3200400" y="0"/>
                  </a:lnTo>
                  <a:lnTo>
                    <a:pt x="32004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76200"/>
              <a:ext cx="3200400" cy="2636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99"/>
                </a:lnSpc>
              </a:pPr>
              <a:r>
                <a:rPr lang="en-US" sz="1874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Wearable EEG headset captures real-time attention &amp; focus signals.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060555" y="2596515"/>
            <a:ext cx="2830830" cy="4065270"/>
            <a:chOff x="0" y="0"/>
            <a:chExt cx="3774440" cy="54203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774440" cy="5420360"/>
            </a:xfrm>
            <a:custGeom>
              <a:avLst/>
              <a:gdLst/>
              <a:ahLst/>
              <a:cxnLst/>
              <a:rect l="l" t="t" r="r" b="b"/>
              <a:pathLst>
                <a:path w="3774440" h="542036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3553460" y="0"/>
                  </a:lnTo>
                  <a:cubicBezTo>
                    <a:pt x="3675507" y="0"/>
                    <a:pt x="3774440" y="98933"/>
                    <a:pt x="3774440" y="220980"/>
                  </a:cubicBezTo>
                  <a:lnTo>
                    <a:pt x="3774440" y="5199380"/>
                  </a:lnTo>
                  <a:cubicBezTo>
                    <a:pt x="3774440" y="5321427"/>
                    <a:pt x="3675507" y="5420360"/>
                    <a:pt x="3553460" y="5420360"/>
                  </a:cubicBezTo>
                  <a:lnTo>
                    <a:pt x="220980" y="5420360"/>
                  </a:lnTo>
                  <a:cubicBezTo>
                    <a:pt x="98933" y="5420360"/>
                    <a:pt x="0" y="5321427"/>
                    <a:pt x="0" y="519938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D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3057632" y="2948940"/>
            <a:ext cx="822960" cy="822960"/>
            <a:chOff x="0" y="0"/>
            <a:chExt cx="1097280" cy="109728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3255142" y="3146450"/>
            <a:ext cx="427939" cy="427939"/>
            <a:chOff x="0" y="0"/>
            <a:chExt cx="570586" cy="570586"/>
          </a:xfrm>
        </p:grpSpPr>
        <p:sp>
          <p:nvSpPr>
            <p:cNvPr id="37" name="Freeform 37" descr="/home/claude/work/icons/gamepad.png"/>
            <p:cNvSpPr/>
            <p:nvPr/>
          </p:nvSpPr>
          <p:spPr>
            <a:xfrm>
              <a:off x="0" y="0"/>
              <a:ext cx="570611" cy="570611"/>
            </a:xfrm>
            <a:custGeom>
              <a:avLst/>
              <a:gdLst/>
              <a:ahLst/>
              <a:cxnLst/>
              <a:rect l="l" t="t" r="r" b="b"/>
              <a:pathLst>
                <a:path w="570611" h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4" b="4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12275820" y="4046220"/>
            <a:ext cx="2400300" cy="480060"/>
            <a:chOff x="0" y="0"/>
            <a:chExt cx="3200400" cy="6400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200400" cy="640080"/>
            </a:xfrm>
            <a:custGeom>
              <a:avLst/>
              <a:gdLst/>
              <a:ahLst/>
              <a:cxnLst/>
              <a:rect l="l" t="t" r="r" b="b"/>
              <a:pathLst>
                <a:path w="3200400" h="640080">
                  <a:moveTo>
                    <a:pt x="0" y="0"/>
                  </a:moveTo>
                  <a:lnTo>
                    <a:pt x="3200400" y="0"/>
                  </a:lnTo>
                  <a:lnTo>
                    <a:pt x="320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32004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Engage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275820" y="4553712"/>
            <a:ext cx="2400300" cy="1920240"/>
            <a:chOff x="0" y="0"/>
            <a:chExt cx="3200400" cy="25603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200400" cy="2560320"/>
            </a:xfrm>
            <a:custGeom>
              <a:avLst/>
              <a:gdLst/>
              <a:ahLst/>
              <a:cxnLst/>
              <a:rect l="l" t="t" r="r" b="b"/>
              <a:pathLst>
                <a:path w="3200400" h="2560320">
                  <a:moveTo>
                    <a:pt x="0" y="0"/>
                  </a:moveTo>
                  <a:lnTo>
                    <a:pt x="3200400" y="0"/>
                  </a:lnTo>
                  <a:lnTo>
                    <a:pt x="32004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76200"/>
              <a:ext cx="3200400" cy="2636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99"/>
                </a:lnSpc>
              </a:pPr>
              <a:r>
                <a:rPr lang="en-US" sz="1874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Adaptive games respond live to the child's cognitive engagement.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5146655" y="2596515"/>
            <a:ext cx="2830830" cy="4065270"/>
            <a:chOff x="0" y="0"/>
            <a:chExt cx="3774440" cy="542036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774440" cy="5420360"/>
            </a:xfrm>
            <a:custGeom>
              <a:avLst/>
              <a:gdLst/>
              <a:ahLst/>
              <a:cxnLst/>
              <a:rect l="l" t="t" r="r" b="b"/>
              <a:pathLst>
                <a:path w="3774440" h="542036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3553460" y="0"/>
                  </a:lnTo>
                  <a:cubicBezTo>
                    <a:pt x="3675507" y="0"/>
                    <a:pt x="3774440" y="98933"/>
                    <a:pt x="3774440" y="220980"/>
                  </a:cubicBezTo>
                  <a:lnTo>
                    <a:pt x="3774440" y="5199380"/>
                  </a:lnTo>
                  <a:cubicBezTo>
                    <a:pt x="3774440" y="5321427"/>
                    <a:pt x="3675507" y="5420360"/>
                    <a:pt x="3553460" y="5420360"/>
                  </a:cubicBezTo>
                  <a:lnTo>
                    <a:pt x="220980" y="5420360"/>
                  </a:lnTo>
                  <a:cubicBezTo>
                    <a:pt x="98933" y="5420360"/>
                    <a:pt x="0" y="5321427"/>
                    <a:pt x="0" y="519938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D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16143732" y="2948940"/>
            <a:ext cx="822960" cy="822960"/>
            <a:chOff x="0" y="0"/>
            <a:chExt cx="1097280" cy="109728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6341242" y="3146450"/>
            <a:ext cx="427939" cy="427939"/>
            <a:chOff x="0" y="0"/>
            <a:chExt cx="570586" cy="570586"/>
          </a:xfrm>
        </p:grpSpPr>
        <p:sp>
          <p:nvSpPr>
            <p:cNvPr id="49" name="Freeform 49" descr="/home/claude/work/icons/monitor.png"/>
            <p:cNvSpPr/>
            <p:nvPr/>
          </p:nvSpPr>
          <p:spPr>
            <a:xfrm>
              <a:off x="0" y="0"/>
              <a:ext cx="570611" cy="570611"/>
            </a:xfrm>
            <a:custGeom>
              <a:avLst/>
              <a:gdLst/>
              <a:ahLst/>
              <a:cxnLst/>
              <a:rect l="l" t="t" r="r" b="b"/>
              <a:pathLst>
                <a:path w="570611" h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4" b="4"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>
            <a:off x="15361920" y="4046220"/>
            <a:ext cx="2400300" cy="480060"/>
            <a:chOff x="0" y="0"/>
            <a:chExt cx="3200400" cy="64008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200400" cy="640080"/>
            </a:xfrm>
            <a:custGeom>
              <a:avLst/>
              <a:gdLst/>
              <a:ahLst/>
              <a:cxnLst/>
              <a:rect l="l" t="t" r="r" b="b"/>
              <a:pathLst>
                <a:path w="3200400" h="640080">
                  <a:moveTo>
                    <a:pt x="0" y="0"/>
                  </a:moveTo>
                  <a:lnTo>
                    <a:pt x="3200400" y="0"/>
                  </a:lnTo>
                  <a:lnTo>
                    <a:pt x="320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32004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Understand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5361920" y="4553712"/>
            <a:ext cx="2400300" cy="1920240"/>
            <a:chOff x="0" y="0"/>
            <a:chExt cx="3200400" cy="256032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200400" cy="2560320"/>
            </a:xfrm>
            <a:custGeom>
              <a:avLst/>
              <a:gdLst/>
              <a:ahLst/>
              <a:cxnLst/>
              <a:rect l="l" t="t" r="r" b="b"/>
              <a:pathLst>
                <a:path w="3200400" h="2560320">
                  <a:moveTo>
                    <a:pt x="0" y="0"/>
                  </a:moveTo>
                  <a:lnTo>
                    <a:pt x="3200400" y="0"/>
                  </a:lnTo>
                  <a:lnTo>
                    <a:pt x="32004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76200"/>
              <a:ext cx="3200400" cy="2636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99"/>
                </a:lnSpc>
              </a:pPr>
              <a:r>
                <a:rPr lang="en-US" sz="1874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Dashboards turn sessions into progress therapists &amp; parents can track.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983980" y="6926580"/>
            <a:ext cx="8572500" cy="2125980"/>
            <a:chOff x="0" y="0"/>
            <a:chExt cx="11430000" cy="28346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1430000" cy="2834640"/>
            </a:xfrm>
            <a:custGeom>
              <a:avLst/>
              <a:gdLst/>
              <a:ahLst/>
              <a:cxnLst/>
              <a:rect l="l" t="t" r="r" b="b"/>
              <a:pathLst>
                <a:path w="11430000" h="28346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1247120" y="0"/>
                  </a:lnTo>
                  <a:cubicBezTo>
                    <a:pt x="11348085" y="0"/>
                    <a:pt x="11430000" y="81915"/>
                    <a:pt x="11430000" y="182880"/>
                  </a:cubicBezTo>
                  <a:lnTo>
                    <a:pt x="11430000" y="2651760"/>
                  </a:lnTo>
                  <a:cubicBezTo>
                    <a:pt x="11430000" y="2752725"/>
                    <a:pt x="11348085" y="2834640"/>
                    <a:pt x="11247120" y="2834640"/>
                  </a:cubicBezTo>
                  <a:lnTo>
                    <a:pt x="182880" y="2834640"/>
                  </a:lnTo>
                  <a:cubicBezTo>
                    <a:pt x="81915" y="2834640"/>
                    <a:pt x="0" y="2752725"/>
                    <a:pt x="0" y="2651760"/>
                  </a:cubicBezTo>
                  <a:close/>
                </a:path>
              </a:pathLst>
            </a:custGeom>
            <a:solidFill>
              <a:srgbClr val="EAF3F6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9189720" y="7087202"/>
            <a:ext cx="8023860" cy="1759618"/>
            <a:chOff x="0" y="0"/>
            <a:chExt cx="10424160" cy="22860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0424160" cy="2286000"/>
            </a:xfrm>
            <a:custGeom>
              <a:avLst/>
              <a:gdLst/>
              <a:ahLst/>
              <a:cxnLst/>
              <a:rect l="l" t="t" r="r" b="b"/>
              <a:pathLst>
                <a:path w="10424160" h="2286000">
                  <a:moveTo>
                    <a:pt x="0" y="0"/>
                  </a:moveTo>
                  <a:lnTo>
                    <a:pt x="10424160" y="0"/>
                  </a:lnTo>
                  <a:lnTo>
                    <a:pt x="1042416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851" b="-38851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95250"/>
              <a:ext cx="10424160" cy="2381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1800" b="1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Positioning: </a:t>
              </a:r>
              <a:r>
                <a:rPr lang="en-US" sz="1800">
                  <a:solidFill>
                    <a:srgbClr val="1A22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MONOJOG+ supports attention development and assists cognitive training, it does not diagnose or claim to treat autism.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54380" y="9601200"/>
            <a:ext cx="4114800" cy="480060"/>
            <a:chOff x="0" y="0"/>
            <a:chExt cx="5486400" cy="64008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486400" cy="640080"/>
            </a:xfrm>
            <a:custGeom>
              <a:avLst/>
              <a:gdLst/>
              <a:ahLst/>
              <a:cxnLst/>
              <a:rect l="l" t="t" r="r" b="b"/>
              <a:pathLst>
                <a:path w="5486400" h="640080">
                  <a:moveTo>
                    <a:pt x="0" y="0"/>
                  </a:moveTo>
                  <a:lnTo>
                    <a:pt x="5486400" y="0"/>
                  </a:lnTo>
                  <a:lnTo>
                    <a:pt x="5486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14" b="-117014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38100"/>
              <a:ext cx="54864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50">
                  <a:solidFill>
                    <a:srgbClr val="5B6B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MONOJOG+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7053103" y="9601200"/>
            <a:ext cx="822960" cy="480060"/>
            <a:chOff x="0" y="0"/>
            <a:chExt cx="1097280" cy="64008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2206619" y="5997621"/>
            <a:ext cx="4308481" cy="2849199"/>
            <a:chOff x="0" y="0"/>
            <a:chExt cx="5744642" cy="379893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5744591" cy="3798892"/>
            </a:xfrm>
            <a:custGeom>
              <a:avLst/>
              <a:gdLst/>
              <a:ahLst/>
              <a:cxnLst/>
              <a:rect l="l" t="t" r="r" b="b"/>
              <a:pathLst>
                <a:path w="5744591" h="3798892">
                  <a:moveTo>
                    <a:pt x="0" y="0"/>
                  </a:moveTo>
                  <a:lnTo>
                    <a:pt x="5744591" y="0"/>
                  </a:lnTo>
                  <a:lnTo>
                    <a:pt x="5744591" y="3798892"/>
                  </a:lnTo>
                  <a:lnTo>
                    <a:pt x="0" y="3798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88" r="-1988"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6230143" y="-685800"/>
            <a:ext cx="3017520" cy="3017520"/>
            <a:chOff x="0" y="0"/>
            <a:chExt cx="4023360" cy="4023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23360" cy="4023360"/>
            </a:xfrm>
            <a:custGeom>
              <a:avLst/>
              <a:gdLst/>
              <a:ahLst/>
              <a:cxnLst/>
              <a:rect l="l" t="t" r="r" b="b"/>
              <a:pathLst>
                <a:path w="4023360" h="4023360">
                  <a:moveTo>
                    <a:pt x="0" y="4023360"/>
                  </a:moveTo>
                  <a:lnTo>
                    <a:pt x="2011680" y="0"/>
                  </a:lnTo>
                  <a:lnTo>
                    <a:pt x="4023360" y="4023360"/>
                  </a:lnTo>
                  <a:close/>
                </a:path>
              </a:pathLst>
            </a:custGeom>
            <a:solidFill>
              <a:srgbClr val="1C7293">
                <a:alpha val="784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-822960" y="8366760"/>
            <a:ext cx="2468880" cy="2468880"/>
            <a:chOff x="0" y="0"/>
            <a:chExt cx="3291840" cy="3291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91840" cy="3291840"/>
            </a:xfrm>
            <a:custGeom>
              <a:avLst/>
              <a:gdLst/>
              <a:ahLst/>
              <a:cxnLst/>
              <a:rect l="l" t="t" r="r" b="b"/>
              <a:pathLst>
                <a:path w="3291840" h="3291840">
                  <a:moveTo>
                    <a:pt x="0" y="3291840"/>
                  </a:moveTo>
                  <a:lnTo>
                    <a:pt x="1645920" y="0"/>
                  </a:lnTo>
                  <a:lnTo>
                    <a:pt x="3291840" y="3291840"/>
                  </a:lnTo>
                  <a:close/>
                </a:path>
              </a:pathLst>
            </a:custGeom>
            <a:solidFill>
              <a:srgbClr val="F2994A">
                <a:alpha val="392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54380" y="685800"/>
            <a:ext cx="123444" cy="438912"/>
            <a:chOff x="0" y="0"/>
            <a:chExt cx="164592" cy="5852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92" cy="585216"/>
            </a:xfrm>
            <a:custGeom>
              <a:avLst/>
              <a:gdLst/>
              <a:ahLst/>
              <a:cxnLst/>
              <a:rect l="l" t="t" r="r" b="b"/>
              <a:pathLst>
                <a:path w="164592" h="585216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91440" y="0"/>
                  </a:lnTo>
                  <a:cubicBezTo>
                    <a:pt x="131826" y="0"/>
                    <a:pt x="164592" y="32766"/>
                    <a:pt x="164592" y="73152"/>
                  </a:cubicBezTo>
                  <a:lnTo>
                    <a:pt x="164592" y="512064"/>
                  </a:lnTo>
                  <a:cubicBezTo>
                    <a:pt x="164592" y="552450"/>
                    <a:pt x="131826" y="585216"/>
                    <a:pt x="91440" y="585216"/>
                  </a:cubicBezTo>
                  <a:lnTo>
                    <a:pt x="73152" y="585216"/>
                  </a:lnTo>
                  <a:cubicBezTo>
                    <a:pt x="32766" y="585216"/>
                    <a:pt x="0" y="552450"/>
                    <a:pt x="0" y="5120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28700" y="603504"/>
            <a:ext cx="10972800" cy="548640"/>
            <a:chOff x="0" y="0"/>
            <a:chExt cx="14630400" cy="731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INNOVATION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4380" y="1069848"/>
            <a:ext cx="14401800" cy="1165860"/>
            <a:chOff x="0" y="0"/>
            <a:chExt cx="19202400" cy="15544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202400" cy="1554480"/>
            </a:xfrm>
            <a:custGeom>
              <a:avLst/>
              <a:gdLst/>
              <a:ahLst/>
              <a:cxnLst/>
              <a:rect l="l" t="t" r="r" b="b"/>
              <a:pathLst>
                <a:path w="19202400" h="1554480">
                  <a:moveTo>
                    <a:pt x="0" y="0"/>
                  </a:moveTo>
                  <a:lnTo>
                    <a:pt x="19202400" y="0"/>
                  </a:lnTo>
                  <a:lnTo>
                    <a:pt x="19202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697" b="-19069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9202400" cy="1573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Makes MONOJOG+ Different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4855" y="2665095"/>
            <a:ext cx="4106418" cy="2967990"/>
            <a:chOff x="0" y="0"/>
            <a:chExt cx="5475224" cy="39573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475224" cy="3957320"/>
            </a:xfrm>
            <a:custGeom>
              <a:avLst/>
              <a:gdLst/>
              <a:ahLst/>
              <a:cxnLst/>
              <a:rect l="l" t="t" r="r" b="b"/>
              <a:pathLst>
                <a:path w="5475224" h="395732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5291201" y="0"/>
                  </a:lnTo>
                  <a:cubicBezTo>
                    <a:pt x="5392801" y="0"/>
                    <a:pt x="5475224" y="82423"/>
                    <a:pt x="5475224" y="184023"/>
                  </a:cubicBezTo>
                  <a:lnTo>
                    <a:pt x="5475224" y="3773297"/>
                  </a:lnTo>
                  <a:cubicBezTo>
                    <a:pt x="5475224" y="3874897"/>
                    <a:pt x="5392801" y="3957320"/>
                    <a:pt x="5291201" y="3957320"/>
                  </a:cubicBezTo>
                  <a:lnTo>
                    <a:pt x="184023" y="3957320"/>
                  </a:lnTo>
                  <a:cubicBezTo>
                    <a:pt x="82423" y="3957320"/>
                    <a:pt x="0" y="3874897"/>
                    <a:pt x="0" y="3773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D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056132" y="2976372"/>
            <a:ext cx="754380" cy="754380"/>
            <a:chOff x="0" y="0"/>
            <a:chExt cx="1005840" cy="10058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237183" y="3157423"/>
            <a:ext cx="392278" cy="392278"/>
            <a:chOff x="0" y="0"/>
            <a:chExt cx="523037" cy="523037"/>
          </a:xfrm>
        </p:grpSpPr>
        <p:sp>
          <p:nvSpPr>
            <p:cNvPr id="19" name="Freeform 19" descr="/home/claude/work/icons/activity.png"/>
            <p:cNvSpPr/>
            <p:nvPr/>
          </p:nvSpPr>
          <p:spPr>
            <a:xfrm>
              <a:off x="0" y="0"/>
              <a:ext cx="522986" cy="522986"/>
            </a:xfrm>
            <a:custGeom>
              <a:avLst/>
              <a:gdLst/>
              <a:ahLst/>
              <a:cxnLst/>
              <a:rect l="l" t="t" r="r" b="b"/>
              <a:pathLst>
                <a:path w="522986" h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9" b="-9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028700" y="3936492"/>
            <a:ext cx="3538728" cy="754380"/>
            <a:chOff x="0" y="0"/>
            <a:chExt cx="4718304" cy="10058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718304" cy="1005840"/>
            </a:xfrm>
            <a:custGeom>
              <a:avLst/>
              <a:gdLst/>
              <a:ahLst/>
              <a:cxnLst/>
              <a:rect l="l" t="t" r="r" b="b"/>
              <a:pathLst>
                <a:path w="4718304" h="1005840">
                  <a:moveTo>
                    <a:pt x="0" y="0"/>
                  </a:moveTo>
                  <a:lnTo>
                    <a:pt x="4718304" y="0"/>
                  </a:lnTo>
                  <a:lnTo>
                    <a:pt x="471830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402" b="-41402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4718304" cy="1062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0"/>
                </a:lnSpc>
              </a:pPr>
              <a:r>
                <a:rPr lang="en-US" sz="2174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 EEG monitoring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28700" y="4622292"/>
            <a:ext cx="3538728" cy="932688"/>
            <a:chOff x="0" y="0"/>
            <a:chExt cx="4718304" cy="124358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718304" cy="1243584"/>
            </a:xfrm>
            <a:custGeom>
              <a:avLst/>
              <a:gdLst/>
              <a:ahLst/>
              <a:cxnLst/>
              <a:rect l="l" t="t" r="r" b="b"/>
              <a:pathLst>
                <a:path w="4718304" h="1243584">
                  <a:moveTo>
                    <a:pt x="0" y="0"/>
                  </a:moveTo>
                  <a:lnTo>
                    <a:pt x="4718304" y="0"/>
                  </a:lnTo>
                  <a:lnTo>
                    <a:pt x="4718304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928" b="-23928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4718304" cy="13102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83"/>
                </a:lnSpc>
              </a:pPr>
              <a:r>
                <a:rPr lang="en-US" sz="1799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Attention is measured live, during the activity itself.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051679" y="2665095"/>
            <a:ext cx="4106418" cy="2967990"/>
            <a:chOff x="0" y="0"/>
            <a:chExt cx="5475224" cy="39573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475224" cy="3957320"/>
            </a:xfrm>
            <a:custGeom>
              <a:avLst/>
              <a:gdLst/>
              <a:ahLst/>
              <a:cxnLst/>
              <a:rect l="l" t="t" r="r" b="b"/>
              <a:pathLst>
                <a:path w="5475224" h="395732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5291201" y="0"/>
                  </a:lnTo>
                  <a:cubicBezTo>
                    <a:pt x="5392801" y="0"/>
                    <a:pt x="5475224" y="82423"/>
                    <a:pt x="5475224" y="184023"/>
                  </a:cubicBezTo>
                  <a:lnTo>
                    <a:pt x="5475224" y="3773297"/>
                  </a:lnTo>
                  <a:cubicBezTo>
                    <a:pt x="5475224" y="3874897"/>
                    <a:pt x="5392801" y="3957320"/>
                    <a:pt x="5291201" y="3957320"/>
                  </a:cubicBezTo>
                  <a:lnTo>
                    <a:pt x="184023" y="3957320"/>
                  </a:lnTo>
                  <a:cubicBezTo>
                    <a:pt x="82423" y="3957320"/>
                    <a:pt x="0" y="3874897"/>
                    <a:pt x="0" y="3773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D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362956" y="2976372"/>
            <a:ext cx="754380" cy="754380"/>
            <a:chOff x="0" y="0"/>
            <a:chExt cx="1005840" cy="10058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5544007" y="3157423"/>
            <a:ext cx="392278" cy="392278"/>
            <a:chOff x="0" y="0"/>
            <a:chExt cx="523037" cy="523037"/>
          </a:xfrm>
        </p:grpSpPr>
        <p:sp>
          <p:nvSpPr>
            <p:cNvPr id="31" name="Freeform 31" descr="/home/claude/work/icons/brain.png"/>
            <p:cNvSpPr/>
            <p:nvPr/>
          </p:nvSpPr>
          <p:spPr>
            <a:xfrm>
              <a:off x="0" y="0"/>
              <a:ext cx="522986" cy="522986"/>
            </a:xfrm>
            <a:custGeom>
              <a:avLst/>
              <a:gdLst/>
              <a:ahLst/>
              <a:cxnLst/>
              <a:rect l="l" t="t" r="r" b="b"/>
              <a:pathLst>
                <a:path w="522986" h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9" b="-9"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5335524" y="3936492"/>
            <a:ext cx="3538728" cy="754380"/>
            <a:chOff x="0" y="0"/>
            <a:chExt cx="4718304" cy="10058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718304" cy="1005840"/>
            </a:xfrm>
            <a:custGeom>
              <a:avLst/>
              <a:gdLst/>
              <a:ahLst/>
              <a:cxnLst/>
              <a:rect l="l" t="t" r="r" b="b"/>
              <a:pathLst>
                <a:path w="4718304" h="1005840">
                  <a:moveTo>
                    <a:pt x="0" y="0"/>
                  </a:moveTo>
                  <a:lnTo>
                    <a:pt x="4718304" y="0"/>
                  </a:lnTo>
                  <a:lnTo>
                    <a:pt x="471830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402" b="-41402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4718304" cy="1062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0"/>
                </a:lnSpc>
              </a:pPr>
              <a:r>
                <a:rPr lang="en-US" sz="2174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AI-assisted analysis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335524" y="4622292"/>
            <a:ext cx="3538728" cy="932688"/>
            <a:chOff x="0" y="0"/>
            <a:chExt cx="4718304" cy="124358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718304" cy="1243584"/>
            </a:xfrm>
            <a:custGeom>
              <a:avLst/>
              <a:gdLst/>
              <a:ahLst/>
              <a:cxnLst/>
              <a:rect l="l" t="t" r="r" b="b"/>
              <a:pathLst>
                <a:path w="4718304" h="1243584">
                  <a:moveTo>
                    <a:pt x="0" y="0"/>
                  </a:moveTo>
                  <a:lnTo>
                    <a:pt x="4718304" y="0"/>
                  </a:lnTo>
                  <a:lnTo>
                    <a:pt x="4718304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928" b="-23928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66675"/>
              <a:ext cx="4718304" cy="13102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83"/>
                </a:lnSpc>
              </a:pPr>
              <a:r>
                <a:rPr lang="en-US" sz="1799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Signal-processing &amp; AI models interpret cognitive engagement.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358503" y="2665095"/>
            <a:ext cx="4106418" cy="2967990"/>
            <a:chOff x="0" y="0"/>
            <a:chExt cx="5475224" cy="39573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475224" cy="3957320"/>
            </a:xfrm>
            <a:custGeom>
              <a:avLst/>
              <a:gdLst/>
              <a:ahLst/>
              <a:cxnLst/>
              <a:rect l="l" t="t" r="r" b="b"/>
              <a:pathLst>
                <a:path w="5475224" h="395732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5291201" y="0"/>
                  </a:lnTo>
                  <a:cubicBezTo>
                    <a:pt x="5392801" y="0"/>
                    <a:pt x="5475224" y="82423"/>
                    <a:pt x="5475224" y="184023"/>
                  </a:cubicBezTo>
                  <a:lnTo>
                    <a:pt x="5475224" y="3773297"/>
                  </a:lnTo>
                  <a:cubicBezTo>
                    <a:pt x="5475224" y="3874897"/>
                    <a:pt x="5392801" y="3957320"/>
                    <a:pt x="5291201" y="3957320"/>
                  </a:cubicBezTo>
                  <a:lnTo>
                    <a:pt x="184023" y="3957320"/>
                  </a:lnTo>
                  <a:cubicBezTo>
                    <a:pt x="82423" y="3957320"/>
                    <a:pt x="0" y="3874897"/>
                    <a:pt x="0" y="3773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D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9669780" y="2976372"/>
            <a:ext cx="754380" cy="754380"/>
            <a:chOff x="0" y="0"/>
            <a:chExt cx="1005840" cy="100584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9850831" y="3157423"/>
            <a:ext cx="392278" cy="392278"/>
            <a:chOff x="0" y="0"/>
            <a:chExt cx="523037" cy="523037"/>
          </a:xfrm>
        </p:grpSpPr>
        <p:sp>
          <p:nvSpPr>
            <p:cNvPr id="43" name="Freeform 43" descr="/home/claude/work/icons/gamepad.png"/>
            <p:cNvSpPr/>
            <p:nvPr/>
          </p:nvSpPr>
          <p:spPr>
            <a:xfrm>
              <a:off x="0" y="0"/>
              <a:ext cx="522986" cy="522986"/>
            </a:xfrm>
            <a:custGeom>
              <a:avLst/>
              <a:gdLst/>
              <a:ahLst/>
              <a:cxnLst/>
              <a:rect l="l" t="t" r="r" b="b"/>
              <a:pathLst>
                <a:path w="522986" h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9" b="-9"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>
            <a:off x="9642348" y="3936492"/>
            <a:ext cx="3538728" cy="776452"/>
            <a:chOff x="0" y="0"/>
            <a:chExt cx="4718304" cy="103527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718304" cy="1035270"/>
            </a:xfrm>
            <a:custGeom>
              <a:avLst/>
              <a:gdLst/>
              <a:ahLst/>
              <a:cxnLst/>
              <a:rect l="l" t="t" r="r" b="b"/>
              <a:pathLst>
                <a:path w="4718304" h="1035270">
                  <a:moveTo>
                    <a:pt x="0" y="0"/>
                  </a:moveTo>
                  <a:lnTo>
                    <a:pt x="4718304" y="0"/>
                  </a:lnTo>
                  <a:lnTo>
                    <a:pt x="4718304" y="1035270"/>
                  </a:lnTo>
                  <a:lnTo>
                    <a:pt x="0" y="10352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225" b="-37382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57150"/>
              <a:ext cx="4718304" cy="10924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0"/>
                </a:lnSpc>
              </a:pPr>
              <a:r>
                <a:rPr lang="en-US" sz="2174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Adaptive neurofeedback games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642348" y="4622292"/>
            <a:ext cx="3538728" cy="932688"/>
            <a:chOff x="0" y="0"/>
            <a:chExt cx="4718304" cy="124358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718304" cy="1243584"/>
            </a:xfrm>
            <a:custGeom>
              <a:avLst/>
              <a:gdLst/>
              <a:ahLst/>
              <a:cxnLst/>
              <a:rect l="l" t="t" r="r" b="b"/>
              <a:pathLst>
                <a:path w="4718304" h="1243584">
                  <a:moveTo>
                    <a:pt x="0" y="0"/>
                  </a:moveTo>
                  <a:lnTo>
                    <a:pt x="4718304" y="0"/>
                  </a:lnTo>
                  <a:lnTo>
                    <a:pt x="4718304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928" b="-23928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66675"/>
              <a:ext cx="4718304" cy="13102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83"/>
                </a:lnSpc>
              </a:pPr>
              <a:r>
                <a:rPr lang="en-US" sz="1799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Gameplay difficulty responds to the child's focus level.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3665327" y="2665095"/>
            <a:ext cx="4106418" cy="2967990"/>
            <a:chOff x="0" y="0"/>
            <a:chExt cx="5475224" cy="395732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475224" cy="3957320"/>
            </a:xfrm>
            <a:custGeom>
              <a:avLst/>
              <a:gdLst/>
              <a:ahLst/>
              <a:cxnLst/>
              <a:rect l="l" t="t" r="r" b="b"/>
              <a:pathLst>
                <a:path w="5475224" h="395732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5291201" y="0"/>
                  </a:lnTo>
                  <a:cubicBezTo>
                    <a:pt x="5392801" y="0"/>
                    <a:pt x="5475224" y="82423"/>
                    <a:pt x="5475224" y="184023"/>
                  </a:cubicBezTo>
                  <a:lnTo>
                    <a:pt x="5475224" y="3773297"/>
                  </a:lnTo>
                  <a:cubicBezTo>
                    <a:pt x="5475224" y="3874897"/>
                    <a:pt x="5392801" y="3957320"/>
                    <a:pt x="5291201" y="3957320"/>
                  </a:cubicBezTo>
                  <a:lnTo>
                    <a:pt x="184023" y="3957320"/>
                  </a:lnTo>
                  <a:cubicBezTo>
                    <a:pt x="82423" y="3957320"/>
                    <a:pt x="0" y="3874897"/>
                    <a:pt x="0" y="3773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D"/>
              </a:solidFill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13976604" y="2976372"/>
            <a:ext cx="754380" cy="754380"/>
            <a:chOff x="0" y="0"/>
            <a:chExt cx="1005840" cy="100584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4157655" y="3157423"/>
            <a:ext cx="392278" cy="392278"/>
            <a:chOff x="0" y="0"/>
            <a:chExt cx="523037" cy="523037"/>
          </a:xfrm>
        </p:grpSpPr>
        <p:sp>
          <p:nvSpPr>
            <p:cNvPr id="55" name="Freeform 55" descr="/home/claude/work/icons/chart.png"/>
            <p:cNvSpPr/>
            <p:nvPr/>
          </p:nvSpPr>
          <p:spPr>
            <a:xfrm>
              <a:off x="0" y="0"/>
              <a:ext cx="522986" cy="522986"/>
            </a:xfrm>
            <a:custGeom>
              <a:avLst/>
              <a:gdLst/>
              <a:ahLst/>
              <a:cxnLst/>
              <a:rect l="l" t="t" r="r" b="b"/>
              <a:pathLst>
                <a:path w="522986" h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9" b="-9"/>
              </a:stretch>
            </a:blipFill>
          </p:spPr>
        </p:sp>
      </p:grpSp>
      <p:grpSp>
        <p:nvGrpSpPr>
          <p:cNvPr id="56" name="Group 56"/>
          <p:cNvGrpSpPr/>
          <p:nvPr/>
        </p:nvGrpSpPr>
        <p:grpSpPr>
          <a:xfrm>
            <a:off x="13949172" y="3936492"/>
            <a:ext cx="3538728" cy="754380"/>
            <a:chOff x="0" y="0"/>
            <a:chExt cx="4718304" cy="10058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718304" cy="1005840"/>
            </a:xfrm>
            <a:custGeom>
              <a:avLst/>
              <a:gdLst/>
              <a:ahLst/>
              <a:cxnLst/>
              <a:rect l="l" t="t" r="r" b="b"/>
              <a:pathLst>
                <a:path w="4718304" h="1005840">
                  <a:moveTo>
                    <a:pt x="0" y="0"/>
                  </a:moveTo>
                  <a:lnTo>
                    <a:pt x="4718304" y="0"/>
                  </a:lnTo>
                  <a:lnTo>
                    <a:pt x="471830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402" b="-41402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57150"/>
              <a:ext cx="4718304" cy="1062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0"/>
                </a:lnSpc>
              </a:pPr>
              <a:r>
                <a:rPr lang="en-US" sz="2174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 progress tracking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3949172" y="4622292"/>
            <a:ext cx="3538728" cy="932688"/>
            <a:chOff x="0" y="0"/>
            <a:chExt cx="4718304" cy="1243584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718304" cy="1243584"/>
            </a:xfrm>
            <a:custGeom>
              <a:avLst/>
              <a:gdLst/>
              <a:ahLst/>
              <a:cxnLst/>
              <a:rect l="l" t="t" r="r" b="b"/>
              <a:pathLst>
                <a:path w="4718304" h="1243584">
                  <a:moveTo>
                    <a:pt x="0" y="0"/>
                  </a:moveTo>
                  <a:lnTo>
                    <a:pt x="4718304" y="0"/>
                  </a:lnTo>
                  <a:lnTo>
                    <a:pt x="4718304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928" b="-23928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66675"/>
              <a:ext cx="4718304" cy="13102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83"/>
                </a:lnSpc>
              </a:pPr>
              <a:r>
                <a:rPr lang="en-US" sz="1799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Replaces guesswork with measurable therapy outcomes.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744855" y="5915787"/>
            <a:ext cx="4106418" cy="2967990"/>
            <a:chOff x="0" y="0"/>
            <a:chExt cx="5475224" cy="395732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475224" cy="3957320"/>
            </a:xfrm>
            <a:custGeom>
              <a:avLst/>
              <a:gdLst/>
              <a:ahLst/>
              <a:cxnLst/>
              <a:rect l="l" t="t" r="r" b="b"/>
              <a:pathLst>
                <a:path w="5475224" h="395732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5291201" y="0"/>
                  </a:lnTo>
                  <a:cubicBezTo>
                    <a:pt x="5392801" y="0"/>
                    <a:pt x="5475224" y="82423"/>
                    <a:pt x="5475224" y="184023"/>
                  </a:cubicBezTo>
                  <a:lnTo>
                    <a:pt x="5475224" y="3773297"/>
                  </a:lnTo>
                  <a:cubicBezTo>
                    <a:pt x="5475224" y="3874897"/>
                    <a:pt x="5392801" y="3957320"/>
                    <a:pt x="5291201" y="3957320"/>
                  </a:cubicBezTo>
                  <a:lnTo>
                    <a:pt x="184023" y="3957320"/>
                  </a:lnTo>
                  <a:cubicBezTo>
                    <a:pt x="82423" y="3957320"/>
                    <a:pt x="0" y="3874897"/>
                    <a:pt x="0" y="3773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D"/>
              </a:solidFill>
              <a:prstDash val="solid"/>
              <a:miter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1056132" y="6227064"/>
            <a:ext cx="754380" cy="754380"/>
            <a:chOff x="0" y="0"/>
            <a:chExt cx="1005840" cy="100584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1237183" y="6408115"/>
            <a:ext cx="392278" cy="392278"/>
            <a:chOff x="0" y="0"/>
            <a:chExt cx="523037" cy="523037"/>
          </a:xfrm>
        </p:grpSpPr>
        <p:sp>
          <p:nvSpPr>
            <p:cNvPr id="67" name="Freeform 67" descr="/home/claude/work/icons/trendingUp.png"/>
            <p:cNvSpPr/>
            <p:nvPr/>
          </p:nvSpPr>
          <p:spPr>
            <a:xfrm>
              <a:off x="0" y="0"/>
              <a:ext cx="522986" cy="522986"/>
            </a:xfrm>
            <a:custGeom>
              <a:avLst/>
              <a:gdLst/>
              <a:ahLst/>
              <a:cxnLst/>
              <a:rect l="l" t="t" r="r" b="b"/>
              <a:pathLst>
                <a:path w="522986" h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9" b="-9"/>
              </a:stretch>
            </a:blipFill>
          </p:spPr>
        </p:sp>
      </p:grpSp>
      <p:grpSp>
        <p:nvGrpSpPr>
          <p:cNvPr id="68" name="Group 68"/>
          <p:cNvGrpSpPr/>
          <p:nvPr/>
        </p:nvGrpSpPr>
        <p:grpSpPr>
          <a:xfrm>
            <a:off x="1028700" y="7187184"/>
            <a:ext cx="3538728" cy="754380"/>
            <a:chOff x="0" y="0"/>
            <a:chExt cx="4718304" cy="100584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718304" cy="1005840"/>
            </a:xfrm>
            <a:custGeom>
              <a:avLst/>
              <a:gdLst/>
              <a:ahLst/>
              <a:cxnLst/>
              <a:rect l="l" t="t" r="r" b="b"/>
              <a:pathLst>
                <a:path w="4718304" h="1005840">
                  <a:moveTo>
                    <a:pt x="0" y="0"/>
                  </a:moveTo>
                  <a:lnTo>
                    <a:pt x="4718304" y="0"/>
                  </a:lnTo>
                  <a:lnTo>
                    <a:pt x="471830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402" b="-41402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57150"/>
              <a:ext cx="4718304" cy="1062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0"/>
                </a:lnSpc>
              </a:pPr>
              <a:r>
                <a:rPr lang="en-US" sz="2174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Longitudinal analytics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28700" y="7872984"/>
            <a:ext cx="3538728" cy="932688"/>
            <a:chOff x="0" y="0"/>
            <a:chExt cx="4718304" cy="1243584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718304" cy="1243584"/>
            </a:xfrm>
            <a:custGeom>
              <a:avLst/>
              <a:gdLst/>
              <a:ahLst/>
              <a:cxnLst/>
              <a:rect l="l" t="t" r="r" b="b"/>
              <a:pathLst>
                <a:path w="4718304" h="1243584">
                  <a:moveTo>
                    <a:pt x="0" y="0"/>
                  </a:moveTo>
                  <a:lnTo>
                    <a:pt x="4718304" y="0"/>
                  </a:lnTo>
                  <a:lnTo>
                    <a:pt x="4718304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928" b="-23928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66675"/>
              <a:ext cx="4718304" cy="13102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83"/>
                </a:lnSpc>
              </a:pPr>
              <a:r>
                <a:rPr lang="en-US" sz="1799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Attention trends over weeks &amp; months, not just one session.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051679" y="5915787"/>
            <a:ext cx="4106418" cy="2967990"/>
            <a:chOff x="0" y="0"/>
            <a:chExt cx="5475224" cy="395732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5475224" cy="3957320"/>
            </a:xfrm>
            <a:custGeom>
              <a:avLst/>
              <a:gdLst/>
              <a:ahLst/>
              <a:cxnLst/>
              <a:rect l="l" t="t" r="r" b="b"/>
              <a:pathLst>
                <a:path w="5475224" h="395732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5291201" y="0"/>
                  </a:lnTo>
                  <a:cubicBezTo>
                    <a:pt x="5392801" y="0"/>
                    <a:pt x="5475224" y="82423"/>
                    <a:pt x="5475224" y="184023"/>
                  </a:cubicBezTo>
                  <a:lnTo>
                    <a:pt x="5475224" y="3773297"/>
                  </a:lnTo>
                  <a:cubicBezTo>
                    <a:pt x="5475224" y="3874897"/>
                    <a:pt x="5392801" y="3957320"/>
                    <a:pt x="5291201" y="3957320"/>
                  </a:cubicBezTo>
                  <a:lnTo>
                    <a:pt x="184023" y="3957320"/>
                  </a:lnTo>
                  <a:cubicBezTo>
                    <a:pt x="82423" y="3957320"/>
                    <a:pt x="0" y="3874897"/>
                    <a:pt x="0" y="3773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D"/>
              </a:solidFill>
              <a:prstDash val="solid"/>
              <a:miter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5362956" y="6227064"/>
            <a:ext cx="754380" cy="754380"/>
            <a:chOff x="0" y="0"/>
            <a:chExt cx="1005840" cy="100584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78" name="Group 78"/>
          <p:cNvGrpSpPr/>
          <p:nvPr/>
        </p:nvGrpSpPr>
        <p:grpSpPr>
          <a:xfrm>
            <a:off x="5544007" y="6408115"/>
            <a:ext cx="392278" cy="392278"/>
            <a:chOff x="0" y="0"/>
            <a:chExt cx="523037" cy="523037"/>
          </a:xfrm>
        </p:grpSpPr>
        <p:sp>
          <p:nvSpPr>
            <p:cNvPr id="79" name="Freeform 79" descr="/home/claude/work/icons/shield.png"/>
            <p:cNvSpPr/>
            <p:nvPr/>
          </p:nvSpPr>
          <p:spPr>
            <a:xfrm>
              <a:off x="0" y="0"/>
              <a:ext cx="522986" cy="522986"/>
            </a:xfrm>
            <a:custGeom>
              <a:avLst/>
              <a:gdLst/>
              <a:ahLst/>
              <a:cxnLst/>
              <a:rect l="l" t="t" r="r" b="b"/>
              <a:pathLst>
                <a:path w="522986" h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9" b="-9"/>
              </a:stretch>
            </a:blipFill>
          </p:spPr>
        </p:sp>
      </p:grpSp>
      <p:grpSp>
        <p:nvGrpSpPr>
          <p:cNvPr id="80" name="Group 80"/>
          <p:cNvGrpSpPr/>
          <p:nvPr/>
        </p:nvGrpSpPr>
        <p:grpSpPr>
          <a:xfrm>
            <a:off x="5335524" y="7187184"/>
            <a:ext cx="3538728" cy="754380"/>
            <a:chOff x="0" y="0"/>
            <a:chExt cx="4718304" cy="100584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718304" cy="1005840"/>
            </a:xfrm>
            <a:custGeom>
              <a:avLst/>
              <a:gdLst/>
              <a:ahLst/>
              <a:cxnLst/>
              <a:rect l="l" t="t" r="r" b="b"/>
              <a:pathLst>
                <a:path w="4718304" h="1005840">
                  <a:moveTo>
                    <a:pt x="0" y="0"/>
                  </a:moveTo>
                  <a:lnTo>
                    <a:pt x="4718304" y="0"/>
                  </a:lnTo>
                  <a:lnTo>
                    <a:pt x="471830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402" b="-41402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57150"/>
              <a:ext cx="4718304" cy="1062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0"/>
                </a:lnSpc>
              </a:pPr>
              <a:r>
                <a:rPr lang="en-US" sz="2174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Child-friendly hardware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335524" y="7872984"/>
            <a:ext cx="3538728" cy="932688"/>
            <a:chOff x="0" y="0"/>
            <a:chExt cx="4718304" cy="1243584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4718304" cy="1243584"/>
            </a:xfrm>
            <a:custGeom>
              <a:avLst/>
              <a:gdLst/>
              <a:ahLst/>
              <a:cxnLst/>
              <a:rect l="l" t="t" r="r" b="b"/>
              <a:pathLst>
                <a:path w="4718304" h="1243584">
                  <a:moveTo>
                    <a:pt x="0" y="0"/>
                  </a:moveTo>
                  <a:lnTo>
                    <a:pt x="4718304" y="0"/>
                  </a:lnTo>
                  <a:lnTo>
                    <a:pt x="4718304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928" b="-23928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66675"/>
              <a:ext cx="4718304" cy="13102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83"/>
                </a:lnSpc>
              </a:pPr>
              <a:r>
                <a:rPr lang="en-US" sz="1799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Non-invasive, lightweight, wearable headband design.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9358503" y="5915787"/>
            <a:ext cx="4106418" cy="2967990"/>
            <a:chOff x="0" y="0"/>
            <a:chExt cx="5475224" cy="395732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5475224" cy="3957320"/>
            </a:xfrm>
            <a:custGeom>
              <a:avLst/>
              <a:gdLst/>
              <a:ahLst/>
              <a:cxnLst/>
              <a:rect l="l" t="t" r="r" b="b"/>
              <a:pathLst>
                <a:path w="5475224" h="395732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5291201" y="0"/>
                  </a:lnTo>
                  <a:cubicBezTo>
                    <a:pt x="5392801" y="0"/>
                    <a:pt x="5475224" y="82423"/>
                    <a:pt x="5475224" y="184023"/>
                  </a:cubicBezTo>
                  <a:lnTo>
                    <a:pt x="5475224" y="3773297"/>
                  </a:lnTo>
                  <a:cubicBezTo>
                    <a:pt x="5475224" y="3874897"/>
                    <a:pt x="5392801" y="3957320"/>
                    <a:pt x="5291201" y="3957320"/>
                  </a:cubicBezTo>
                  <a:lnTo>
                    <a:pt x="184023" y="3957320"/>
                  </a:lnTo>
                  <a:cubicBezTo>
                    <a:pt x="82423" y="3957320"/>
                    <a:pt x="0" y="3874897"/>
                    <a:pt x="0" y="3773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D"/>
              </a:solidFill>
              <a:prstDash val="solid"/>
              <a:miter/>
            </a:ln>
          </p:spPr>
        </p:sp>
      </p:grpSp>
      <p:grpSp>
        <p:nvGrpSpPr>
          <p:cNvPr id="88" name="Group 88"/>
          <p:cNvGrpSpPr/>
          <p:nvPr/>
        </p:nvGrpSpPr>
        <p:grpSpPr>
          <a:xfrm>
            <a:off x="9669780" y="6227064"/>
            <a:ext cx="754380" cy="754380"/>
            <a:chOff x="0" y="0"/>
            <a:chExt cx="1005840" cy="100584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90" name="Group 90"/>
          <p:cNvGrpSpPr/>
          <p:nvPr/>
        </p:nvGrpSpPr>
        <p:grpSpPr>
          <a:xfrm>
            <a:off x="9850831" y="6408115"/>
            <a:ext cx="392278" cy="392278"/>
            <a:chOff x="0" y="0"/>
            <a:chExt cx="523037" cy="523037"/>
          </a:xfrm>
        </p:grpSpPr>
        <p:sp>
          <p:nvSpPr>
            <p:cNvPr id="91" name="Freeform 91" descr="/home/claude/work/icons/users.png"/>
            <p:cNvSpPr/>
            <p:nvPr/>
          </p:nvSpPr>
          <p:spPr>
            <a:xfrm>
              <a:off x="0" y="0"/>
              <a:ext cx="522986" cy="522986"/>
            </a:xfrm>
            <a:custGeom>
              <a:avLst/>
              <a:gdLst/>
              <a:ahLst/>
              <a:cxnLst/>
              <a:rect l="l" t="t" r="r" b="b"/>
              <a:pathLst>
                <a:path w="522986" h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9" b="-9"/>
              </a:stretch>
            </a:blipFill>
          </p:spPr>
        </p:sp>
      </p:grpSp>
      <p:grpSp>
        <p:nvGrpSpPr>
          <p:cNvPr id="92" name="Group 92"/>
          <p:cNvGrpSpPr/>
          <p:nvPr/>
        </p:nvGrpSpPr>
        <p:grpSpPr>
          <a:xfrm>
            <a:off x="9642348" y="7187184"/>
            <a:ext cx="3538728" cy="754380"/>
            <a:chOff x="0" y="0"/>
            <a:chExt cx="4718304" cy="100584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4718304" cy="1005840"/>
            </a:xfrm>
            <a:custGeom>
              <a:avLst/>
              <a:gdLst/>
              <a:ahLst/>
              <a:cxnLst/>
              <a:rect l="l" t="t" r="r" b="b"/>
              <a:pathLst>
                <a:path w="4718304" h="1005840">
                  <a:moveTo>
                    <a:pt x="0" y="0"/>
                  </a:moveTo>
                  <a:lnTo>
                    <a:pt x="4718304" y="0"/>
                  </a:lnTo>
                  <a:lnTo>
                    <a:pt x="471830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402" b="-41402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57150"/>
              <a:ext cx="4718304" cy="1062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0"/>
                </a:lnSpc>
              </a:pPr>
              <a:r>
                <a:rPr lang="en-US" sz="2174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 connected platform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9642348" y="7872984"/>
            <a:ext cx="3538728" cy="932688"/>
            <a:chOff x="0" y="0"/>
            <a:chExt cx="4718304" cy="1243584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4718304" cy="1243584"/>
            </a:xfrm>
            <a:custGeom>
              <a:avLst/>
              <a:gdLst/>
              <a:ahLst/>
              <a:cxnLst/>
              <a:rect l="l" t="t" r="r" b="b"/>
              <a:pathLst>
                <a:path w="4718304" h="1243584">
                  <a:moveTo>
                    <a:pt x="0" y="0"/>
                  </a:moveTo>
                  <a:lnTo>
                    <a:pt x="4718304" y="0"/>
                  </a:lnTo>
                  <a:lnTo>
                    <a:pt x="4718304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928" b="-23928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-66675"/>
              <a:ext cx="4718304" cy="13102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83"/>
                </a:lnSpc>
              </a:pPr>
              <a:r>
                <a:rPr lang="en-US" sz="1799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Therapists, educators &amp; parents see the same insights.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3665327" y="5915787"/>
            <a:ext cx="4106418" cy="2967990"/>
            <a:chOff x="0" y="0"/>
            <a:chExt cx="5475224" cy="395732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5475224" cy="3957320"/>
            </a:xfrm>
            <a:custGeom>
              <a:avLst/>
              <a:gdLst/>
              <a:ahLst/>
              <a:cxnLst/>
              <a:rect l="l" t="t" r="r" b="b"/>
              <a:pathLst>
                <a:path w="5475224" h="395732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5291201" y="0"/>
                  </a:lnTo>
                  <a:cubicBezTo>
                    <a:pt x="5392801" y="0"/>
                    <a:pt x="5475224" y="82423"/>
                    <a:pt x="5475224" y="184023"/>
                  </a:cubicBezTo>
                  <a:lnTo>
                    <a:pt x="5475224" y="3773297"/>
                  </a:lnTo>
                  <a:cubicBezTo>
                    <a:pt x="5475224" y="3874897"/>
                    <a:pt x="5392801" y="3957320"/>
                    <a:pt x="5291201" y="3957320"/>
                  </a:cubicBezTo>
                  <a:lnTo>
                    <a:pt x="184023" y="3957320"/>
                  </a:lnTo>
                  <a:cubicBezTo>
                    <a:pt x="82423" y="3957320"/>
                    <a:pt x="0" y="3874897"/>
                    <a:pt x="0" y="3773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D"/>
              </a:solidFill>
              <a:prstDash val="solid"/>
              <a:miter/>
            </a:ln>
          </p:spPr>
        </p:sp>
      </p:grpSp>
      <p:grpSp>
        <p:nvGrpSpPr>
          <p:cNvPr id="100" name="Group 100"/>
          <p:cNvGrpSpPr/>
          <p:nvPr/>
        </p:nvGrpSpPr>
        <p:grpSpPr>
          <a:xfrm>
            <a:off x="13976604" y="6227064"/>
            <a:ext cx="754380" cy="754380"/>
            <a:chOff x="0" y="0"/>
            <a:chExt cx="1005840" cy="100584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102" name="Group 102"/>
          <p:cNvGrpSpPr/>
          <p:nvPr/>
        </p:nvGrpSpPr>
        <p:grpSpPr>
          <a:xfrm>
            <a:off x="14157655" y="6408115"/>
            <a:ext cx="392278" cy="392278"/>
            <a:chOff x="0" y="0"/>
            <a:chExt cx="523037" cy="523037"/>
          </a:xfrm>
        </p:grpSpPr>
        <p:sp>
          <p:nvSpPr>
            <p:cNvPr id="103" name="Freeform 103" descr="/home/claude/work/icons/dollar.png"/>
            <p:cNvSpPr/>
            <p:nvPr/>
          </p:nvSpPr>
          <p:spPr>
            <a:xfrm>
              <a:off x="0" y="0"/>
              <a:ext cx="522986" cy="522986"/>
            </a:xfrm>
            <a:custGeom>
              <a:avLst/>
              <a:gdLst/>
              <a:ahLst/>
              <a:cxnLst/>
              <a:rect l="l" t="t" r="r" b="b"/>
              <a:pathLst>
                <a:path w="522986" h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r="-9" b="-9"/>
              </a:stretch>
            </a:blipFill>
          </p:spPr>
        </p:sp>
      </p:grpSp>
      <p:grpSp>
        <p:nvGrpSpPr>
          <p:cNvPr id="104" name="Group 104"/>
          <p:cNvGrpSpPr/>
          <p:nvPr/>
        </p:nvGrpSpPr>
        <p:grpSpPr>
          <a:xfrm>
            <a:off x="13949172" y="7187184"/>
            <a:ext cx="3538728" cy="754380"/>
            <a:chOff x="0" y="0"/>
            <a:chExt cx="4718304" cy="1005840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4718304" cy="1005840"/>
            </a:xfrm>
            <a:custGeom>
              <a:avLst/>
              <a:gdLst/>
              <a:ahLst/>
              <a:cxnLst/>
              <a:rect l="l" t="t" r="r" b="b"/>
              <a:pathLst>
                <a:path w="4718304" h="1005840">
                  <a:moveTo>
                    <a:pt x="0" y="0"/>
                  </a:moveTo>
                  <a:lnTo>
                    <a:pt x="4718304" y="0"/>
                  </a:lnTo>
                  <a:lnTo>
                    <a:pt x="471830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402" b="-41402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-57150"/>
              <a:ext cx="4718304" cy="1062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40"/>
                </a:lnSpc>
              </a:pPr>
              <a:r>
                <a:rPr lang="en-US" sz="2174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Affordable by design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3949172" y="7872984"/>
            <a:ext cx="3538728" cy="932688"/>
            <a:chOff x="0" y="0"/>
            <a:chExt cx="4718304" cy="1243584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4718304" cy="1243584"/>
            </a:xfrm>
            <a:custGeom>
              <a:avLst/>
              <a:gdLst/>
              <a:ahLst/>
              <a:cxnLst/>
              <a:rect l="l" t="t" r="r" b="b"/>
              <a:pathLst>
                <a:path w="4718304" h="1243584">
                  <a:moveTo>
                    <a:pt x="0" y="0"/>
                  </a:moveTo>
                  <a:lnTo>
                    <a:pt x="4718304" y="0"/>
                  </a:lnTo>
                  <a:lnTo>
                    <a:pt x="4718304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928" b="-23928"/>
              </a:stretch>
            </a:blipFill>
          </p:spPr>
        </p:sp>
        <p:sp>
          <p:nvSpPr>
            <p:cNvPr id="109" name="TextBox 109"/>
            <p:cNvSpPr txBox="1"/>
            <p:nvPr/>
          </p:nvSpPr>
          <p:spPr>
            <a:xfrm>
              <a:off x="0" y="-66675"/>
              <a:ext cx="4718304" cy="13102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83"/>
                </a:lnSpc>
              </a:pPr>
              <a:r>
                <a:rPr lang="en-US" sz="1799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Built to cost a fraction of laboratory EEG systems.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754380" y="9601200"/>
            <a:ext cx="4114800" cy="480060"/>
            <a:chOff x="0" y="0"/>
            <a:chExt cx="5486400" cy="640080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5486400" cy="640080"/>
            </a:xfrm>
            <a:custGeom>
              <a:avLst/>
              <a:gdLst/>
              <a:ahLst/>
              <a:cxnLst/>
              <a:rect l="l" t="t" r="r" b="b"/>
              <a:pathLst>
                <a:path w="5486400" h="640080">
                  <a:moveTo>
                    <a:pt x="0" y="0"/>
                  </a:moveTo>
                  <a:lnTo>
                    <a:pt x="5486400" y="0"/>
                  </a:lnTo>
                  <a:lnTo>
                    <a:pt x="5486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14" b="-117014"/>
              </a:stretch>
            </a:blipFill>
          </p:spPr>
        </p:sp>
        <p:sp>
          <p:nvSpPr>
            <p:cNvPr id="112" name="TextBox 112"/>
            <p:cNvSpPr txBox="1"/>
            <p:nvPr/>
          </p:nvSpPr>
          <p:spPr>
            <a:xfrm>
              <a:off x="0" y="-38100"/>
              <a:ext cx="54864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50">
                  <a:solidFill>
                    <a:srgbClr val="5B6B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MONOJOG+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17053103" y="9601200"/>
            <a:ext cx="822960" cy="480060"/>
            <a:chOff x="0" y="0"/>
            <a:chExt cx="1097280" cy="640080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115" name="TextBox 115"/>
            <p:cNvSpPr txBox="1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6230143" y="-685800"/>
            <a:ext cx="3017520" cy="3017520"/>
            <a:chOff x="0" y="0"/>
            <a:chExt cx="4023360" cy="4023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23360" cy="4023360"/>
            </a:xfrm>
            <a:custGeom>
              <a:avLst/>
              <a:gdLst/>
              <a:ahLst/>
              <a:cxnLst/>
              <a:rect l="l" t="t" r="r" b="b"/>
              <a:pathLst>
                <a:path w="4023360" h="4023360">
                  <a:moveTo>
                    <a:pt x="0" y="4023360"/>
                  </a:moveTo>
                  <a:lnTo>
                    <a:pt x="2011680" y="0"/>
                  </a:lnTo>
                  <a:lnTo>
                    <a:pt x="4023360" y="4023360"/>
                  </a:lnTo>
                  <a:close/>
                </a:path>
              </a:pathLst>
            </a:custGeom>
            <a:solidFill>
              <a:srgbClr val="1C7293">
                <a:alpha val="784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-822960" y="8366760"/>
            <a:ext cx="2468880" cy="2468880"/>
            <a:chOff x="0" y="0"/>
            <a:chExt cx="3291840" cy="3291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91840" cy="3291840"/>
            </a:xfrm>
            <a:custGeom>
              <a:avLst/>
              <a:gdLst/>
              <a:ahLst/>
              <a:cxnLst/>
              <a:rect l="l" t="t" r="r" b="b"/>
              <a:pathLst>
                <a:path w="3291840" h="3291840">
                  <a:moveTo>
                    <a:pt x="0" y="3291840"/>
                  </a:moveTo>
                  <a:lnTo>
                    <a:pt x="1645920" y="0"/>
                  </a:lnTo>
                  <a:lnTo>
                    <a:pt x="3291840" y="3291840"/>
                  </a:lnTo>
                  <a:close/>
                </a:path>
              </a:pathLst>
            </a:custGeom>
            <a:solidFill>
              <a:srgbClr val="F2994A">
                <a:alpha val="392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54380" y="685800"/>
            <a:ext cx="123444" cy="438912"/>
            <a:chOff x="0" y="0"/>
            <a:chExt cx="164592" cy="5852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92" cy="585216"/>
            </a:xfrm>
            <a:custGeom>
              <a:avLst/>
              <a:gdLst/>
              <a:ahLst/>
              <a:cxnLst/>
              <a:rect l="l" t="t" r="r" b="b"/>
              <a:pathLst>
                <a:path w="164592" h="585216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91440" y="0"/>
                  </a:lnTo>
                  <a:cubicBezTo>
                    <a:pt x="131826" y="0"/>
                    <a:pt x="164592" y="32766"/>
                    <a:pt x="164592" y="73152"/>
                  </a:cubicBezTo>
                  <a:lnTo>
                    <a:pt x="164592" y="512064"/>
                  </a:lnTo>
                  <a:cubicBezTo>
                    <a:pt x="164592" y="552450"/>
                    <a:pt x="131826" y="585216"/>
                    <a:pt x="91440" y="585216"/>
                  </a:cubicBezTo>
                  <a:lnTo>
                    <a:pt x="73152" y="585216"/>
                  </a:lnTo>
                  <a:cubicBezTo>
                    <a:pt x="32766" y="585216"/>
                    <a:pt x="0" y="552450"/>
                    <a:pt x="0" y="512064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28700" y="603504"/>
            <a:ext cx="10972800" cy="548640"/>
            <a:chOff x="0" y="0"/>
            <a:chExt cx="14630400" cy="731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 spc="300">
                  <a:solidFill>
                    <a:srgbClr val="F299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IT WORKS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4380" y="1069848"/>
            <a:ext cx="14401800" cy="1165860"/>
            <a:chOff x="0" y="0"/>
            <a:chExt cx="19202400" cy="15544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202400" cy="1554480"/>
            </a:xfrm>
            <a:custGeom>
              <a:avLst/>
              <a:gdLst/>
              <a:ahLst/>
              <a:cxnLst/>
              <a:rect l="l" t="t" r="r" b="b"/>
              <a:pathLst>
                <a:path w="19202400" h="1554480">
                  <a:moveTo>
                    <a:pt x="0" y="0"/>
                  </a:moveTo>
                  <a:lnTo>
                    <a:pt x="19202400" y="0"/>
                  </a:lnTo>
                  <a:lnTo>
                    <a:pt x="19202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697" b="-19069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9202400" cy="1573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From Brainwave to Insight: System Architecture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4380" y="2537460"/>
            <a:ext cx="16733520" cy="6926580"/>
            <a:chOff x="0" y="0"/>
            <a:chExt cx="22311360" cy="9235440"/>
          </a:xfrm>
        </p:grpSpPr>
        <p:sp>
          <p:nvSpPr>
            <p:cNvPr id="15" name="Freeform 15" descr="/home/claude/work/architecture_diagram.png"/>
            <p:cNvSpPr/>
            <p:nvPr/>
          </p:nvSpPr>
          <p:spPr>
            <a:xfrm>
              <a:off x="0" y="0"/>
              <a:ext cx="22311361" cy="9235440"/>
            </a:xfrm>
            <a:custGeom>
              <a:avLst/>
              <a:gdLst/>
              <a:ahLst/>
              <a:cxnLst/>
              <a:rect l="l" t="t" r="r" b="b"/>
              <a:pathLst>
                <a:path w="22311361" h="9235440">
                  <a:moveTo>
                    <a:pt x="0" y="0"/>
                  </a:moveTo>
                  <a:lnTo>
                    <a:pt x="22311361" y="0"/>
                  </a:lnTo>
                  <a:lnTo>
                    <a:pt x="22311361" y="9235440"/>
                  </a:lnTo>
                  <a:lnTo>
                    <a:pt x="0" y="9235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7772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754380" y="9601200"/>
            <a:ext cx="4114800" cy="480060"/>
            <a:chOff x="0" y="0"/>
            <a:chExt cx="5486400" cy="6400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486400" cy="640080"/>
            </a:xfrm>
            <a:custGeom>
              <a:avLst/>
              <a:gdLst/>
              <a:ahLst/>
              <a:cxnLst/>
              <a:rect l="l" t="t" r="r" b="b"/>
              <a:pathLst>
                <a:path w="5486400" h="640080">
                  <a:moveTo>
                    <a:pt x="0" y="0"/>
                  </a:moveTo>
                  <a:lnTo>
                    <a:pt x="5486400" y="0"/>
                  </a:lnTo>
                  <a:lnTo>
                    <a:pt x="5486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14" b="-117014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54864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50">
                  <a:solidFill>
                    <a:srgbClr val="5B6B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MONOJOG+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7053103" y="9601200"/>
            <a:ext cx="822960" cy="480060"/>
            <a:chOff x="0" y="0"/>
            <a:chExt cx="1097280" cy="6400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6230143" y="-685800"/>
            <a:ext cx="3017520" cy="3017520"/>
            <a:chOff x="0" y="0"/>
            <a:chExt cx="4023360" cy="4023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23360" cy="4023360"/>
            </a:xfrm>
            <a:custGeom>
              <a:avLst/>
              <a:gdLst/>
              <a:ahLst/>
              <a:cxnLst/>
              <a:rect l="l" t="t" r="r" b="b"/>
              <a:pathLst>
                <a:path w="4023360" h="4023360">
                  <a:moveTo>
                    <a:pt x="0" y="4023360"/>
                  </a:moveTo>
                  <a:lnTo>
                    <a:pt x="2011680" y="0"/>
                  </a:lnTo>
                  <a:lnTo>
                    <a:pt x="4023360" y="4023360"/>
                  </a:lnTo>
                  <a:close/>
                </a:path>
              </a:pathLst>
            </a:custGeom>
            <a:solidFill>
              <a:srgbClr val="1C7293">
                <a:alpha val="784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-822960" y="8366760"/>
            <a:ext cx="2468880" cy="2468880"/>
            <a:chOff x="0" y="0"/>
            <a:chExt cx="3291840" cy="3291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91840" cy="3291840"/>
            </a:xfrm>
            <a:custGeom>
              <a:avLst/>
              <a:gdLst/>
              <a:ahLst/>
              <a:cxnLst/>
              <a:rect l="l" t="t" r="r" b="b"/>
              <a:pathLst>
                <a:path w="3291840" h="3291840">
                  <a:moveTo>
                    <a:pt x="0" y="3291840"/>
                  </a:moveTo>
                  <a:lnTo>
                    <a:pt x="1645920" y="0"/>
                  </a:lnTo>
                  <a:lnTo>
                    <a:pt x="3291840" y="3291840"/>
                  </a:lnTo>
                  <a:close/>
                </a:path>
              </a:pathLst>
            </a:custGeom>
            <a:solidFill>
              <a:srgbClr val="F2994A">
                <a:alpha val="392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54380" y="685800"/>
            <a:ext cx="123444" cy="438912"/>
            <a:chOff x="0" y="0"/>
            <a:chExt cx="164592" cy="5852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92" cy="585216"/>
            </a:xfrm>
            <a:custGeom>
              <a:avLst/>
              <a:gdLst/>
              <a:ahLst/>
              <a:cxnLst/>
              <a:rect l="l" t="t" r="r" b="b"/>
              <a:pathLst>
                <a:path w="164592" h="585216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91440" y="0"/>
                  </a:lnTo>
                  <a:cubicBezTo>
                    <a:pt x="131826" y="0"/>
                    <a:pt x="164592" y="32766"/>
                    <a:pt x="164592" y="73152"/>
                  </a:cubicBezTo>
                  <a:lnTo>
                    <a:pt x="164592" y="512064"/>
                  </a:lnTo>
                  <a:cubicBezTo>
                    <a:pt x="164592" y="552450"/>
                    <a:pt x="131826" y="585216"/>
                    <a:pt x="91440" y="585216"/>
                  </a:cubicBezTo>
                  <a:lnTo>
                    <a:pt x="73152" y="585216"/>
                  </a:lnTo>
                  <a:cubicBezTo>
                    <a:pt x="32766" y="585216"/>
                    <a:pt x="0" y="552450"/>
                    <a:pt x="0" y="5120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28700" y="603504"/>
            <a:ext cx="10972800" cy="548640"/>
            <a:chOff x="0" y="0"/>
            <a:chExt cx="14630400" cy="731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TECHNOLOGY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4380" y="1069848"/>
            <a:ext cx="14401800" cy="1165860"/>
            <a:chOff x="0" y="0"/>
            <a:chExt cx="19202400" cy="15544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202400" cy="1554480"/>
            </a:xfrm>
            <a:custGeom>
              <a:avLst/>
              <a:gdLst/>
              <a:ahLst/>
              <a:cxnLst/>
              <a:rect l="l" t="t" r="r" b="b"/>
              <a:pathLst>
                <a:path w="19202400" h="1554480">
                  <a:moveTo>
                    <a:pt x="0" y="0"/>
                  </a:moveTo>
                  <a:lnTo>
                    <a:pt x="19202400" y="0"/>
                  </a:lnTo>
                  <a:lnTo>
                    <a:pt x="19202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697" b="-19069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9202400" cy="1573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Core Technology Stack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4380" y="2674620"/>
            <a:ext cx="685800" cy="685800"/>
            <a:chOff x="0" y="0"/>
            <a:chExt cx="914400" cy="914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918972" y="2839212"/>
            <a:ext cx="356616" cy="356616"/>
            <a:chOff x="0" y="0"/>
            <a:chExt cx="475488" cy="475488"/>
          </a:xfrm>
        </p:grpSpPr>
        <p:sp>
          <p:nvSpPr>
            <p:cNvPr id="17" name="Freeform 17" descr="/home/claude/work/icons/brain.png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645920" y="2715768"/>
            <a:ext cx="3017520" cy="685800"/>
            <a:chOff x="0" y="0"/>
            <a:chExt cx="4023360" cy="914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023360" cy="914400"/>
            </a:xfrm>
            <a:custGeom>
              <a:avLst/>
              <a:gdLst/>
              <a:ahLst/>
              <a:cxnLst/>
              <a:rect l="l" t="t" r="r" b="b"/>
              <a:pathLst>
                <a:path w="4023360" h="914400">
                  <a:moveTo>
                    <a:pt x="0" y="0"/>
                  </a:moveTo>
                  <a:lnTo>
                    <a:pt x="4023360" y="0"/>
                  </a:lnTo>
                  <a:lnTo>
                    <a:pt x="4023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734" b="-35734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402336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3"/>
                </a:lnSpc>
              </a:pPr>
              <a:r>
                <a:rPr lang="en-US" sz="1725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EEG (Electroencephalography)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54380" y="4018788"/>
            <a:ext cx="685800" cy="685800"/>
            <a:chOff x="0" y="0"/>
            <a:chExt cx="914400" cy="914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918972" y="4183380"/>
            <a:ext cx="356616" cy="356616"/>
            <a:chOff x="0" y="0"/>
            <a:chExt cx="475488" cy="475488"/>
          </a:xfrm>
        </p:grpSpPr>
        <p:sp>
          <p:nvSpPr>
            <p:cNvPr id="24" name="Freeform 24" descr="/home/claude/work/icons/activity.png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645920" y="4059936"/>
            <a:ext cx="3017520" cy="685800"/>
            <a:chOff x="0" y="0"/>
            <a:chExt cx="4023360" cy="914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023360" cy="914400"/>
            </a:xfrm>
            <a:custGeom>
              <a:avLst/>
              <a:gdLst/>
              <a:ahLst/>
              <a:cxnLst/>
              <a:rect l="l" t="t" r="r" b="b"/>
              <a:pathLst>
                <a:path w="4023360" h="914400">
                  <a:moveTo>
                    <a:pt x="0" y="0"/>
                  </a:moveTo>
                  <a:lnTo>
                    <a:pt x="4023360" y="0"/>
                  </a:lnTo>
                  <a:lnTo>
                    <a:pt x="4023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734" b="-35734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402336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3"/>
                </a:lnSpc>
              </a:pPr>
              <a:r>
                <a:rPr lang="en-US" sz="1725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Brain–Computer Interface (BCI)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54380" y="5362956"/>
            <a:ext cx="685800" cy="685800"/>
            <a:chOff x="0" y="0"/>
            <a:chExt cx="914400" cy="914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918972" y="5527548"/>
            <a:ext cx="356616" cy="356616"/>
            <a:chOff x="0" y="0"/>
            <a:chExt cx="475488" cy="475488"/>
          </a:xfrm>
        </p:grpSpPr>
        <p:sp>
          <p:nvSpPr>
            <p:cNvPr id="31" name="Freeform 31" descr="/home/claude/work/icons/settings.png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1645920" y="5404104"/>
            <a:ext cx="3017520" cy="685800"/>
            <a:chOff x="0" y="0"/>
            <a:chExt cx="4023360" cy="914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023360" cy="914400"/>
            </a:xfrm>
            <a:custGeom>
              <a:avLst/>
              <a:gdLst/>
              <a:ahLst/>
              <a:cxnLst/>
              <a:rect l="l" t="t" r="r" b="b"/>
              <a:pathLst>
                <a:path w="4023360" h="914400">
                  <a:moveTo>
                    <a:pt x="0" y="0"/>
                  </a:moveTo>
                  <a:lnTo>
                    <a:pt x="4023360" y="0"/>
                  </a:lnTo>
                  <a:lnTo>
                    <a:pt x="4023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734" b="-35734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402336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3"/>
                </a:lnSpc>
              </a:pPr>
              <a:r>
                <a:rPr lang="en-US" sz="1725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Digital Signal Processing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54380" y="6707124"/>
            <a:ext cx="685800" cy="685800"/>
            <a:chOff x="0" y="0"/>
            <a:chExt cx="914400" cy="914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918972" y="6871716"/>
            <a:ext cx="356616" cy="356616"/>
            <a:chOff x="0" y="0"/>
            <a:chExt cx="475488" cy="475488"/>
          </a:xfrm>
        </p:grpSpPr>
        <p:sp>
          <p:nvSpPr>
            <p:cNvPr id="38" name="Freeform 38" descr="/home/claude/work/icons/bulb.png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1645920" y="6748272"/>
            <a:ext cx="3017520" cy="685800"/>
            <a:chOff x="0" y="0"/>
            <a:chExt cx="4023360" cy="9144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023360" cy="914400"/>
            </a:xfrm>
            <a:custGeom>
              <a:avLst/>
              <a:gdLst/>
              <a:ahLst/>
              <a:cxnLst/>
              <a:rect l="l" t="t" r="r" b="b"/>
              <a:pathLst>
                <a:path w="4023360" h="914400">
                  <a:moveTo>
                    <a:pt x="0" y="0"/>
                  </a:moveTo>
                  <a:lnTo>
                    <a:pt x="4023360" y="0"/>
                  </a:lnTo>
                  <a:lnTo>
                    <a:pt x="4023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734" b="-35734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402336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3"/>
                </a:lnSpc>
              </a:pPr>
              <a:r>
                <a:rPr lang="en-US" sz="1725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Artificial Intelligence &amp; ML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663440" y="2674620"/>
            <a:ext cx="685800" cy="685800"/>
            <a:chOff x="0" y="0"/>
            <a:chExt cx="914400" cy="9144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4828032" y="2839212"/>
            <a:ext cx="356616" cy="356616"/>
            <a:chOff x="0" y="0"/>
            <a:chExt cx="475488" cy="475488"/>
          </a:xfrm>
        </p:grpSpPr>
        <p:sp>
          <p:nvSpPr>
            <p:cNvPr id="45" name="Freeform 45" descr="/home/claude/work/icons/wifi.png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5554980" y="2715768"/>
            <a:ext cx="3017520" cy="685800"/>
            <a:chOff x="0" y="0"/>
            <a:chExt cx="4023360" cy="9144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023360" cy="914400"/>
            </a:xfrm>
            <a:custGeom>
              <a:avLst/>
              <a:gdLst/>
              <a:ahLst/>
              <a:cxnLst/>
              <a:rect l="l" t="t" r="r" b="b"/>
              <a:pathLst>
                <a:path w="4023360" h="914400">
                  <a:moveTo>
                    <a:pt x="0" y="0"/>
                  </a:moveTo>
                  <a:lnTo>
                    <a:pt x="4023360" y="0"/>
                  </a:lnTo>
                  <a:lnTo>
                    <a:pt x="4023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734" b="-35734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402336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3"/>
                </a:lnSpc>
              </a:pPr>
              <a:r>
                <a:rPr lang="en-US" sz="1725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Embedded Systems (ESP32 IoT)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663440" y="4018788"/>
            <a:ext cx="685800" cy="685800"/>
            <a:chOff x="0" y="0"/>
            <a:chExt cx="914400" cy="9144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4828032" y="4183380"/>
            <a:ext cx="356616" cy="356616"/>
            <a:chOff x="0" y="0"/>
            <a:chExt cx="475488" cy="475488"/>
          </a:xfrm>
        </p:grpSpPr>
        <p:sp>
          <p:nvSpPr>
            <p:cNvPr id="52" name="Freeform 52" descr="/home/claude/work/icons/gamepad.png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53" name="Group 53"/>
          <p:cNvGrpSpPr/>
          <p:nvPr/>
        </p:nvGrpSpPr>
        <p:grpSpPr>
          <a:xfrm>
            <a:off x="5554980" y="4059936"/>
            <a:ext cx="3017520" cy="685800"/>
            <a:chOff x="0" y="0"/>
            <a:chExt cx="4023360" cy="9144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023360" cy="914400"/>
            </a:xfrm>
            <a:custGeom>
              <a:avLst/>
              <a:gdLst/>
              <a:ahLst/>
              <a:cxnLst/>
              <a:rect l="l" t="t" r="r" b="b"/>
              <a:pathLst>
                <a:path w="4023360" h="914400">
                  <a:moveTo>
                    <a:pt x="0" y="0"/>
                  </a:moveTo>
                  <a:lnTo>
                    <a:pt x="4023360" y="0"/>
                  </a:lnTo>
                  <a:lnTo>
                    <a:pt x="4023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734" b="-35734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402336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3"/>
                </a:lnSpc>
              </a:pPr>
              <a:r>
                <a:rPr lang="en-US" sz="1725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Gamification Engine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663440" y="5362956"/>
            <a:ext cx="685800" cy="685800"/>
            <a:chOff x="0" y="0"/>
            <a:chExt cx="914400" cy="9144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4828032" y="5527548"/>
            <a:ext cx="356616" cy="356616"/>
            <a:chOff x="0" y="0"/>
            <a:chExt cx="475488" cy="475488"/>
          </a:xfrm>
        </p:grpSpPr>
        <p:sp>
          <p:nvSpPr>
            <p:cNvPr id="59" name="Freeform 59" descr="/home/claude/work/icons/cloud.png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60" name="Group 60"/>
          <p:cNvGrpSpPr/>
          <p:nvPr/>
        </p:nvGrpSpPr>
        <p:grpSpPr>
          <a:xfrm>
            <a:off x="5554980" y="5404104"/>
            <a:ext cx="3017520" cy="685800"/>
            <a:chOff x="0" y="0"/>
            <a:chExt cx="4023360" cy="9144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023360" cy="914400"/>
            </a:xfrm>
            <a:custGeom>
              <a:avLst/>
              <a:gdLst/>
              <a:ahLst/>
              <a:cxnLst/>
              <a:rect l="l" t="t" r="r" b="b"/>
              <a:pathLst>
                <a:path w="4023360" h="914400">
                  <a:moveTo>
                    <a:pt x="0" y="0"/>
                  </a:moveTo>
                  <a:lnTo>
                    <a:pt x="4023360" y="0"/>
                  </a:lnTo>
                  <a:lnTo>
                    <a:pt x="4023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734" b="-35734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47625"/>
              <a:ext cx="402336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3"/>
                </a:lnSpc>
              </a:pPr>
              <a:r>
                <a:rPr lang="en-US" sz="1725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Secure Cloud Computing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663440" y="6707124"/>
            <a:ext cx="685800" cy="685800"/>
            <a:chOff x="0" y="0"/>
            <a:chExt cx="914400" cy="9144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4828032" y="6871716"/>
            <a:ext cx="356616" cy="356616"/>
            <a:chOff x="0" y="0"/>
            <a:chExt cx="475488" cy="475488"/>
          </a:xfrm>
        </p:grpSpPr>
        <p:sp>
          <p:nvSpPr>
            <p:cNvPr id="66" name="Freeform 66" descr="/home/claude/work/icons/shield.png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67" name="Group 67"/>
          <p:cNvGrpSpPr/>
          <p:nvPr/>
        </p:nvGrpSpPr>
        <p:grpSpPr>
          <a:xfrm>
            <a:off x="5554980" y="6748272"/>
            <a:ext cx="3017520" cy="685800"/>
            <a:chOff x="0" y="0"/>
            <a:chExt cx="4023360" cy="9144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4023360" cy="914400"/>
            </a:xfrm>
            <a:custGeom>
              <a:avLst/>
              <a:gdLst/>
              <a:ahLst/>
              <a:cxnLst/>
              <a:rect l="l" t="t" r="r" b="b"/>
              <a:pathLst>
                <a:path w="4023360" h="914400">
                  <a:moveTo>
                    <a:pt x="0" y="0"/>
                  </a:moveTo>
                  <a:lnTo>
                    <a:pt x="4023360" y="0"/>
                  </a:lnTo>
                  <a:lnTo>
                    <a:pt x="4023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734" b="-35734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47625"/>
              <a:ext cx="402336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3"/>
                </a:lnSpc>
              </a:pPr>
              <a:r>
                <a:rPr lang="en-US" sz="1725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Protected Health Data Management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8983980" y="2537460"/>
            <a:ext cx="8572500" cy="4293108"/>
            <a:chOff x="0" y="0"/>
            <a:chExt cx="11430000" cy="5724144"/>
          </a:xfrm>
        </p:grpSpPr>
        <p:sp>
          <p:nvSpPr>
            <p:cNvPr id="71" name="Freeform 71" descr="/home/claude/work/circuit.png"/>
            <p:cNvSpPr/>
            <p:nvPr/>
          </p:nvSpPr>
          <p:spPr>
            <a:xfrm>
              <a:off x="0" y="0"/>
              <a:ext cx="11430000" cy="5724144"/>
            </a:xfrm>
            <a:custGeom>
              <a:avLst/>
              <a:gdLst/>
              <a:ahLst/>
              <a:cxnLst/>
              <a:rect l="l" t="t" r="r" b="b"/>
              <a:pathLst>
                <a:path w="11430000" h="5724144">
                  <a:moveTo>
                    <a:pt x="0" y="0"/>
                  </a:moveTo>
                  <a:lnTo>
                    <a:pt x="11430000" y="0"/>
                  </a:lnTo>
                  <a:lnTo>
                    <a:pt x="11430000" y="5724144"/>
                  </a:lnTo>
                  <a:lnTo>
                    <a:pt x="0" y="5724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r="-13024"/>
              </a:stretch>
            </a:blipFill>
          </p:spPr>
        </p:sp>
      </p:grpSp>
      <p:grpSp>
        <p:nvGrpSpPr>
          <p:cNvPr id="72" name="Group 72"/>
          <p:cNvGrpSpPr/>
          <p:nvPr/>
        </p:nvGrpSpPr>
        <p:grpSpPr>
          <a:xfrm>
            <a:off x="8983980" y="7063740"/>
            <a:ext cx="8572500" cy="2057400"/>
            <a:chOff x="0" y="0"/>
            <a:chExt cx="11430000" cy="274320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1430000" cy="2743200"/>
            </a:xfrm>
            <a:custGeom>
              <a:avLst/>
              <a:gdLst/>
              <a:ahLst/>
              <a:cxnLst/>
              <a:rect l="l" t="t" r="r" b="b"/>
              <a:pathLst>
                <a:path w="11430000" h="27432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1247120" y="0"/>
                  </a:lnTo>
                  <a:cubicBezTo>
                    <a:pt x="11348085" y="0"/>
                    <a:pt x="11430000" y="81915"/>
                    <a:pt x="11430000" y="182880"/>
                  </a:cubicBezTo>
                  <a:lnTo>
                    <a:pt x="11430000" y="2560320"/>
                  </a:lnTo>
                  <a:cubicBezTo>
                    <a:pt x="11430000" y="2661285"/>
                    <a:pt x="11348085" y="2743200"/>
                    <a:pt x="11247120" y="2743200"/>
                  </a:cubicBezTo>
                  <a:lnTo>
                    <a:pt x="182880" y="2743200"/>
                  </a:lnTo>
                  <a:cubicBezTo>
                    <a:pt x="81915" y="2743200"/>
                    <a:pt x="0" y="2661285"/>
                    <a:pt x="0" y="2560320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9234983" y="7135368"/>
            <a:ext cx="7818120" cy="1645920"/>
            <a:chOff x="0" y="0"/>
            <a:chExt cx="10424160" cy="219456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0424160" cy="2194560"/>
            </a:xfrm>
            <a:custGeom>
              <a:avLst/>
              <a:gdLst/>
              <a:ahLst/>
              <a:cxnLst/>
              <a:rect l="l" t="t" r="r" b="b"/>
              <a:pathLst>
                <a:path w="10424160" h="2194560">
                  <a:moveTo>
                    <a:pt x="0" y="0"/>
                  </a:moveTo>
                  <a:lnTo>
                    <a:pt x="10424160" y="0"/>
                  </a:lnTo>
                  <a:lnTo>
                    <a:pt x="10424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553" b="-42553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85725"/>
              <a:ext cx="10424160" cy="2280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5"/>
                </a:lnSpc>
              </a:pPr>
              <a:r>
                <a:rPr lang="en-US" sz="1725" b="1">
                  <a:solidFill>
                    <a:srgbClr val="F299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Prototype hardware: </a:t>
              </a:r>
              <a:r>
                <a:rPr lang="en-US" sz="1725">
                  <a:solidFill>
                    <a:srgbClr val="E7EE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Taurus TGM EEG sensor · Arduino UNO signal parsing · ESP32-C6 Wi-Fi processing · rechargeable Li-ion power with a compact, child-safe headband enclosure.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54380" y="9601200"/>
            <a:ext cx="4114800" cy="480060"/>
            <a:chOff x="0" y="0"/>
            <a:chExt cx="5486400" cy="64008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5486400" cy="640080"/>
            </a:xfrm>
            <a:custGeom>
              <a:avLst/>
              <a:gdLst/>
              <a:ahLst/>
              <a:cxnLst/>
              <a:rect l="l" t="t" r="r" b="b"/>
              <a:pathLst>
                <a:path w="5486400" h="640080">
                  <a:moveTo>
                    <a:pt x="0" y="0"/>
                  </a:moveTo>
                  <a:lnTo>
                    <a:pt x="5486400" y="0"/>
                  </a:lnTo>
                  <a:lnTo>
                    <a:pt x="5486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14" b="-117014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54864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50">
                  <a:solidFill>
                    <a:srgbClr val="5B6B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MONOJOG+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7053103" y="9601200"/>
            <a:ext cx="822960" cy="480060"/>
            <a:chOff x="0" y="0"/>
            <a:chExt cx="1097280" cy="64008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906780" y="9725025"/>
            <a:ext cx="4114800" cy="50863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1800"/>
              </a:lnSpc>
            </a:pPr>
            <a:endParaRPr lang="en-US" sz="1500" b="1" spc="150" dirty="0">
              <a:solidFill>
                <a:srgbClr val="5B6B79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7205503" y="9753600"/>
            <a:ext cx="822960" cy="480060"/>
            <a:chOff x="0" y="0"/>
            <a:chExt cx="1097280" cy="6400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endParaRPr lang="en-US" sz="1500" dirty="0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88493"/>
            <a:ext cx="17637195" cy="99209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6230143" y="-685800"/>
            <a:ext cx="3017520" cy="3017520"/>
            <a:chOff x="0" y="0"/>
            <a:chExt cx="4023360" cy="4023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23360" cy="4023360"/>
            </a:xfrm>
            <a:custGeom>
              <a:avLst/>
              <a:gdLst/>
              <a:ahLst/>
              <a:cxnLst/>
              <a:rect l="l" t="t" r="r" b="b"/>
              <a:pathLst>
                <a:path w="4023360" h="4023360">
                  <a:moveTo>
                    <a:pt x="0" y="4023360"/>
                  </a:moveTo>
                  <a:lnTo>
                    <a:pt x="2011680" y="0"/>
                  </a:lnTo>
                  <a:lnTo>
                    <a:pt x="4023360" y="4023360"/>
                  </a:lnTo>
                  <a:close/>
                </a:path>
              </a:pathLst>
            </a:custGeom>
            <a:solidFill>
              <a:srgbClr val="1C7293">
                <a:alpha val="784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-822960" y="8366760"/>
            <a:ext cx="2468880" cy="2468880"/>
            <a:chOff x="0" y="0"/>
            <a:chExt cx="3291840" cy="3291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91840" cy="3291840"/>
            </a:xfrm>
            <a:custGeom>
              <a:avLst/>
              <a:gdLst/>
              <a:ahLst/>
              <a:cxnLst/>
              <a:rect l="l" t="t" r="r" b="b"/>
              <a:pathLst>
                <a:path w="3291840" h="3291840">
                  <a:moveTo>
                    <a:pt x="0" y="3291840"/>
                  </a:moveTo>
                  <a:lnTo>
                    <a:pt x="1645920" y="0"/>
                  </a:lnTo>
                  <a:lnTo>
                    <a:pt x="3291840" y="3291840"/>
                  </a:lnTo>
                  <a:close/>
                </a:path>
              </a:pathLst>
            </a:custGeom>
            <a:solidFill>
              <a:srgbClr val="F2994A">
                <a:alpha val="392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54380" y="685800"/>
            <a:ext cx="123444" cy="438912"/>
            <a:chOff x="0" y="0"/>
            <a:chExt cx="164592" cy="5852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92" cy="585216"/>
            </a:xfrm>
            <a:custGeom>
              <a:avLst/>
              <a:gdLst/>
              <a:ahLst/>
              <a:cxnLst/>
              <a:rect l="l" t="t" r="r" b="b"/>
              <a:pathLst>
                <a:path w="164592" h="585216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91440" y="0"/>
                  </a:lnTo>
                  <a:cubicBezTo>
                    <a:pt x="131826" y="0"/>
                    <a:pt x="164592" y="32766"/>
                    <a:pt x="164592" y="73152"/>
                  </a:cubicBezTo>
                  <a:lnTo>
                    <a:pt x="164592" y="512064"/>
                  </a:lnTo>
                  <a:cubicBezTo>
                    <a:pt x="164592" y="552450"/>
                    <a:pt x="131826" y="585216"/>
                    <a:pt x="91440" y="585216"/>
                  </a:cubicBezTo>
                  <a:lnTo>
                    <a:pt x="73152" y="585216"/>
                  </a:lnTo>
                  <a:cubicBezTo>
                    <a:pt x="32766" y="585216"/>
                    <a:pt x="0" y="552450"/>
                    <a:pt x="0" y="5120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28700" y="603504"/>
            <a:ext cx="10972800" cy="548640"/>
            <a:chOff x="0" y="0"/>
            <a:chExt cx="14630400" cy="731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WHO IT SERVES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4380" y="1069848"/>
            <a:ext cx="14401800" cy="1165860"/>
            <a:chOff x="0" y="0"/>
            <a:chExt cx="19202400" cy="15544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202400" cy="1554480"/>
            </a:xfrm>
            <a:custGeom>
              <a:avLst/>
              <a:gdLst/>
              <a:ahLst/>
              <a:cxnLst/>
              <a:rect l="l" t="t" r="r" b="b"/>
              <a:pathLst>
                <a:path w="19202400" h="1554480">
                  <a:moveTo>
                    <a:pt x="0" y="0"/>
                  </a:moveTo>
                  <a:lnTo>
                    <a:pt x="19202400" y="0"/>
                  </a:lnTo>
                  <a:lnTo>
                    <a:pt x="19202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697" b="-19069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9202400" cy="1573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Target Beneficiaries &amp; Social Impact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98170" y="2582799"/>
            <a:ext cx="7700010" cy="6877050"/>
            <a:chOff x="0" y="0"/>
            <a:chExt cx="10266680" cy="9169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266680" cy="9169400"/>
            </a:xfrm>
            <a:custGeom>
              <a:avLst/>
              <a:gdLst/>
              <a:ahLst/>
              <a:cxnLst/>
              <a:rect l="l" t="t" r="r" b="b"/>
              <a:pathLst>
                <a:path w="10266680" h="916940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10046589" y="0"/>
                  </a:lnTo>
                  <a:cubicBezTo>
                    <a:pt x="10168128" y="0"/>
                    <a:pt x="10266680" y="98552"/>
                    <a:pt x="10266680" y="220091"/>
                  </a:cubicBezTo>
                  <a:lnTo>
                    <a:pt x="10266680" y="8949309"/>
                  </a:lnTo>
                  <a:cubicBezTo>
                    <a:pt x="10266680" y="9070848"/>
                    <a:pt x="10168128" y="9169400"/>
                    <a:pt x="10046589" y="9169400"/>
                  </a:cubicBezTo>
                  <a:lnTo>
                    <a:pt x="220091" y="9169400"/>
                  </a:lnTo>
                  <a:cubicBezTo>
                    <a:pt x="98552" y="9169400"/>
                    <a:pt x="0" y="9070848"/>
                    <a:pt x="0" y="89493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D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165860" y="2811780"/>
            <a:ext cx="6858000" cy="548640"/>
            <a:chOff x="0" y="0"/>
            <a:chExt cx="9144000" cy="731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144000" cy="731520"/>
            </a:xfrm>
            <a:custGeom>
              <a:avLst/>
              <a:gdLst/>
              <a:ahLst/>
              <a:cxnLst/>
              <a:rect l="l" t="t" r="r" b="b"/>
              <a:pathLst>
                <a:path w="9144000" h="73152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562" b="-193562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914400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99"/>
                </a:lnSpc>
              </a:pPr>
              <a:r>
                <a:rPr lang="en-US" sz="2749" b="1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Who benefits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34440" y="3579876"/>
            <a:ext cx="192024" cy="192024"/>
            <a:chOff x="0" y="0"/>
            <a:chExt cx="256032" cy="25603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56032" cy="256032"/>
            </a:xfrm>
            <a:custGeom>
              <a:avLst/>
              <a:gdLst/>
              <a:ahLst/>
              <a:cxnLst/>
              <a:rect l="l" t="t" r="r" b="b"/>
              <a:pathLst>
                <a:path w="256032" h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645920" y="3387852"/>
            <a:ext cx="6652260" cy="576072"/>
            <a:chOff x="0" y="0"/>
            <a:chExt cx="8869680" cy="76809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869680" cy="768096"/>
            </a:xfrm>
            <a:custGeom>
              <a:avLst/>
              <a:gdLst/>
              <a:ahLst/>
              <a:cxnLst/>
              <a:rect l="l" t="t" r="r" b="b"/>
              <a:pathLst>
                <a:path w="8869680" h="768096">
                  <a:moveTo>
                    <a:pt x="0" y="0"/>
                  </a:moveTo>
                  <a:lnTo>
                    <a:pt x="8869680" y="0"/>
                  </a:lnTo>
                  <a:lnTo>
                    <a:pt x="88696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005" b="-175005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8869680" cy="815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09"/>
                </a:lnSpc>
              </a:pPr>
              <a:r>
                <a:rPr lang="en-US" sz="2174">
                  <a:solidFill>
                    <a:srgbClr val="1A22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Children with Autism Spectrum Disorder (ASD)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34440" y="4265676"/>
            <a:ext cx="192024" cy="192024"/>
            <a:chOff x="0" y="0"/>
            <a:chExt cx="256032" cy="25603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56032" cy="256032"/>
            </a:xfrm>
            <a:custGeom>
              <a:avLst/>
              <a:gdLst/>
              <a:ahLst/>
              <a:cxnLst/>
              <a:rect l="l" t="t" r="r" b="b"/>
              <a:pathLst>
                <a:path w="256032" h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645920" y="4073652"/>
            <a:ext cx="6652260" cy="576072"/>
            <a:chOff x="0" y="0"/>
            <a:chExt cx="8869680" cy="76809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869680" cy="768096"/>
            </a:xfrm>
            <a:custGeom>
              <a:avLst/>
              <a:gdLst/>
              <a:ahLst/>
              <a:cxnLst/>
              <a:rect l="l" t="t" r="r" b="b"/>
              <a:pathLst>
                <a:path w="8869680" h="768096">
                  <a:moveTo>
                    <a:pt x="0" y="0"/>
                  </a:moveTo>
                  <a:lnTo>
                    <a:pt x="8869680" y="0"/>
                  </a:lnTo>
                  <a:lnTo>
                    <a:pt x="88696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005" b="-175005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8869680" cy="815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09"/>
                </a:lnSpc>
              </a:pPr>
              <a:r>
                <a:rPr lang="en-US" sz="2174">
                  <a:solidFill>
                    <a:srgbClr val="1A22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Children with ADHD &amp; developmental delays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34440" y="4951476"/>
            <a:ext cx="192024" cy="192024"/>
            <a:chOff x="0" y="0"/>
            <a:chExt cx="256032" cy="25603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56032" cy="256032"/>
            </a:xfrm>
            <a:custGeom>
              <a:avLst/>
              <a:gdLst/>
              <a:ahLst/>
              <a:cxnLst/>
              <a:rect l="l" t="t" r="r" b="b"/>
              <a:pathLst>
                <a:path w="256032" h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645920" y="4759452"/>
            <a:ext cx="6652260" cy="576072"/>
            <a:chOff x="0" y="0"/>
            <a:chExt cx="8869680" cy="76809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869680" cy="768096"/>
            </a:xfrm>
            <a:custGeom>
              <a:avLst/>
              <a:gdLst/>
              <a:ahLst/>
              <a:cxnLst/>
              <a:rect l="l" t="t" r="r" b="b"/>
              <a:pathLst>
                <a:path w="8869680" h="768096">
                  <a:moveTo>
                    <a:pt x="0" y="0"/>
                  </a:moveTo>
                  <a:lnTo>
                    <a:pt x="8869680" y="0"/>
                  </a:lnTo>
                  <a:lnTo>
                    <a:pt x="88696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005" b="-175005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8869680" cy="815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09"/>
                </a:lnSpc>
              </a:pPr>
              <a:r>
                <a:rPr lang="en-US" sz="2174">
                  <a:solidFill>
                    <a:srgbClr val="1A22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Special education schools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34440" y="5637276"/>
            <a:ext cx="192024" cy="192024"/>
            <a:chOff x="0" y="0"/>
            <a:chExt cx="256032" cy="25603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56032" cy="256032"/>
            </a:xfrm>
            <a:custGeom>
              <a:avLst/>
              <a:gdLst/>
              <a:ahLst/>
              <a:cxnLst/>
              <a:rect l="l" t="t" r="r" b="b"/>
              <a:pathLst>
                <a:path w="256032" h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645920" y="5445252"/>
            <a:ext cx="6652260" cy="576072"/>
            <a:chOff x="0" y="0"/>
            <a:chExt cx="8869680" cy="76809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869680" cy="768096"/>
            </a:xfrm>
            <a:custGeom>
              <a:avLst/>
              <a:gdLst/>
              <a:ahLst/>
              <a:cxnLst/>
              <a:rect l="l" t="t" r="r" b="b"/>
              <a:pathLst>
                <a:path w="8869680" h="768096">
                  <a:moveTo>
                    <a:pt x="0" y="0"/>
                  </a:moveTo>
                  <a:lnTo>
                    <a:pt x="8869680" y="0"/>
                  </a:lnTo>
                  <a:lnTo>
                    <a:pt x="88696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005" b="-175005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8869680" cy="815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09"/>
                </a:lnSpc>
              </a:pPr>
              <a:r>
                <a:rPr lang="en-US" sz="2174">
                  <a:solidFill>
                    <a:srgbClr val="1A22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Autism therapy &amp; rehabilitation centers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34440" y="6323076"/>
            <a:ext cx="192024" cy="192024"/>
            <a:chOff x="0" y="0"/>
            <a:chExt cx="256032" cy="25603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56032" cy="256032"/>
            </a:xfrm>
            <a:custGeom>
              <a:avLst/>
              <a:gdLst/>
              <a:ahLst/>
              <a:cxnLst/>
              <a:rect l="l" t="t" r="r" b="b"/>
              <a:pathLst>
                <a:path w="256032" h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645920" y="6131052"/>
            <a:ext cx="6652260" cy="576072"/>
            <a:chOff x="0" y="0"/>
            <a:chExt cx="8869680" cy="76809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869680" cy="768096"/>
            </a:xfrm>
            <a:custGeom>
              <a:avLst/>
              <a:gdLst/>
              <a:ahLst/>
              <a:cxnLst/>
              <a:rect l="l" t="t" r="r" b="b"/>
              <a:pathLst>
                <a:path w="8869680" h="768096">
                  <a:moveTo>
                    <a:pt x="0" y="0"/>
                  </a:moveTo>
                  <a:lnTo>
                    <a:pt x="8869680" y="0"/>
                  </a:lnTo>
                  <a:lnTo>
                    <a:pt x="88696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005" b="-175005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8869680" cy="815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09"/>
                </a:lnSpc>
              </a:pPr>
              <a:r>
                <a:rPr lang="en-US" sz="2174">
                  <a:solidFill>
                    <a:srgbClr val="1A22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Occupational therapists &amp; clinical psychologists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34440" y="7008876"/>
            <a:ext cx="192024" cy="192024"/>
            <a:chOff x="0" y="0"/>
            <a:chExt cx="256032" cy="25603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56032" cy="256032"/>
            </a:xfrm>
            <a:custGeom>
              <a:avLst/>
              <a:gdLst/>
              <a:ahLst/>
              <a:cxnLst/>
              <a:rect l="l" t="t" r="r" b="b"/>
              <a:pathLst>
                <a:path w="256032" h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645920" y="6816852"/>
            <a:ext cx="6652260" cy="576072"/>
            <a:chOff x="0" y="0"/>
            <a:chExt cx="8869680" cy="76809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869680" cy="768096"/>
            </a:xfrm>
            <a:custGeom>
              <a:avLst/>
              <a:gdLst/>
              <a:ahLst/>
              <a:cxnLst/>
              <a:rect l="l" t="t" r="r" b="b"/>
              <a:pathLst>
                <a:path w="8869680" h="768096">
                  <a:moveTo>
                    <a:pt x="0" y="0"/>
                  </a:moveTo>
                  <a:lnTo>
                    <a:pt x="8869680" y="0"/>
                  </a:lnTo>
                  <a:lnTo>
                    <a:pt x="88696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005" b="-175005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8869680" cy="815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09"/>
                </a:lnSpc>
              </a:pPr>
              <a:r>
                <a:rPr lang="en-US" sz="2174">
                  <a:solidFill>
                    <a:srgbClr val="1A22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Parents and caregivers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34440" y="7694676"/>
            <a:ext cx="192024" cy="192024"/>
            <a:chOff x="0" y="0"/>
            <a:chExt cx="256032" cy="25603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56032" cy="256032"/>
            </a:xfrm>
            <a:custGeom>
              <a:avLst/>
              <a:gdLst/>
              <a:ahLst/>
              <a:cxnLst/>
              <a:rect l="l" t="t" r="r" b="b"/>
              <a:pathLst>
                <a:path w="256032" h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645920" y="7502652"/>
            <a:ext cx="6652260" cy="576072"/>
            <a:chOff x="0" y="0"/>
            <a:chExt cx="8869680" cy="76809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869680" cy="768096"/>
            </a:xfrm>
            <a:custGeom>
              <a:avLst/>
              <a:gdLst/>
              <a:ahLst/>
              <a:cxnLst/>
              <a:rect l="l" t="t" r="r" b="b"/>
              <a:pathLst>
                <a:path w="8869680" h="768096">
                  <a:moveTo>
                    <a:pt x="0" y="0"/>
                  </a:moveTo>
                  <a:lnTo>
                    <a:pt x="8869680" y="0"/>
                  </a:lnTo>
                  <a:lnTo>
                    <a:pt x="88696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005" b="-175005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8869680" cy="815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09"/>
                </a:lnSpc>
              </a:pPr>
              <a:r>
                <a:rPr lang="en-US" sz="2174">
                  <a:solidFill>
                    <a:srgbClr val="1A22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Researchers studying neurodevelopment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686343" y="2592324"/>
            <a:ext cx="8778240" cy="6858000"/>
            <a:chOff x="0" y="0"/>
            <a:chExt cx="11704320" cy="91440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1704320" cy="9144000"/>
            </a:xfrm>
            <a:custGeom>
              <a:avLst/>
              <a:gdLst/>
              <a:ahLst/>
              <a:cxnLst/>
              <a:rect l="l" t="t" r="r" b="b"/>
              <a:pathLst>
                <a:path w="11704320" h="91440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1484864" y="0"/>
                  </a:lnTo>
                  <a:cubicBezTo>
                    <a:pt x="11606022" y="0"/>
                    <a:pt x="11704320" y="98298"/>
                    <a:pt x="11704320" y="219456"/>
                  </a:cubicBezTo>
                  <a:lnTo>
                    <a:pt x="11704320" y="8924544"/>
                  </a:lnTo>
                  <a:cubicBezTo>
                    <a:pt x="11704320" y="9045701"/>
                    <a:pt x="11606022" y="9144000"/>
                    <a:pt x="11484864" y="9144000"/>
                  </a:cubicBezTo>
                  <a:lnTo>
                    <a:pt x="219456" y="9144000"/>
                  </a:lnTo>
                  <a:cubicBezTo>
                    <a:pt x="98298" y="9144000"/>
                    <a:pt x="0" y="9045702"/>
                    <a:pt x="0" y="8924544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9189720" y="2811780"/>
            <a:ext cx="7955280" cy="548640"/>
            <a:chOff x="0" y="0"/>
            <a:chExt cx="10607040" cy="73152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607040" cy="731520"/>
            </a:xfrm>
            <a:custGeom>
              <a:avLst/>
              <a:gdLst/>
              <a:ahLst/>
              <a:cxnLst/>
              <a:rect l="l" t="t" r="r" b="b"/>
              <a:pathLst>
                <a:path w="10607040" h="73152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533" b="-232533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57150"/>
              <a:ext cx="1060704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79"/>
                </a:lnSpc>
              </a:pPr>
              <a:r>
                <a:rPr lang="en-US" sz="2649" b="1">
                  <a:solidFill>
                    <a:srgbClr val="F299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Social impact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189720" y="3497580"/>
            <a:ext cx="8023860" cy="2606040"/>
            <a:chOff x="0" y="0"/>
            <a:chExt cx="10698480" cy="347472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698480" cy="3474720"/>
            </a:xfrm>
            <a:custGeom>
              <a:avLst/>
              <a:gdLst/>
              <a:ahLst/>
              <a:cxnLst/>
              <a:rect l="l" t="t" r="r" b="b"/>
              <a:pathLst>
                <a:path w="10698480" h="3474720">
                  <a:moveTo>
                    <a:pt x="0" y="0"/>
                  </a:moveTo>
                  <a:lnTo>
                    <a:pt x="10698480" y="0"/>
                  </a:lnTo>
                  <a:lnTo>
                    <a:pt x="1069848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93" b="-9993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114300"/>
              <a:ext cx="10698480" cy="35890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40"/>
                </a:lnSpc>
              </a:pPr>
              <a:r>
                <a:rPr lang="en-US" sz="2174">
                  <a:solidFill>
                    <a:srgbClr val="E7EE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MONOJOG+ makes objective attention monitoring more accessible for children with autism and special needs. By pairing real-time brain data with engaging therapeutic games, it encourages active participation while providing therapists with measurable indicators of attention development rather than relying on observation alone.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189720" y="6309360"/>
            <a:ext cx="411480" cy="411480"/>
            <a:chOff x="0" y="0"/>
            <a:chExt cx="548640" cy="548640"/>
          </a:xfrm>
        </p:grpSpPr>
        <p:sp>
          <p:nvSpPr>
            <p:cNvPr id="63" name="Freeform 63" descr="/home/claude/work/icons/heart.png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4" name="Group 64"/>
          <p:cNvGrpSpPr/>
          <p:nvPr/>
        </p:nvGrpSpPr>
        <p:grpSpPr>
          <a:xfrm>
            <a:off x="9806940" y="6227064"/>
            <a:ext cx="7338060" cy="685800"/>
            <a:chOff x="0" y="0"/>
            <a:chExt cx="9784080" cy="9144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9784080" cy="914400"/>
            </a:xfrm>
            <a:custGeom>
              <a:avLst/>
              <a:gdLst/>
              <a:ahLst/>
              <a:cxnLst/>
              <a:rect l="l" t="t" r="r" b="b"/>
              <a:pathLst>
                <a:path w="9784080" h="914400">
                  <a:moveTo>
                    <a:pt x="0" y="0"/>
                  </a:moveTo>
                  <a:lnTo>
                    <a:pt x="9784080" y="0"/>
                  </a:lnTo>
                  <a:lnTo>
                    <a:pt x="9784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489" b="-158489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57150"/>
              <a:ext cx="978408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72"/>
                </a:lnSpc>
              </a:pPr>
              <a:r>
                <a:rPr lang="en-US" sz="2024">
                  <a:solidFill>
                    <a:srgbClr val="CADC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Helps therapists personalize interventions using data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9189720" y="7022592"/>
            <a:ext cx="411480" cy="411480"/>
            <a:chOff x="0" y="0"/>
            <a:chExt cx="548640" cy="548640"/>
          </a:xfrm>
        </p:grpSpPr>
        <p:sp>
          <p:nvSpPr>
            <p:cNvPr id="68" name="Freeform 68" descr="/home/claude/work/icons/heart.png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9" name="Group 69"/>
          <p:cNvGrpSpPr/>
          <p:nvPr/>
        </p:nvGrpSpPr>
        <p:grpSpPr>
          <a:xfrm>
            <a:off x="9806940" y="6940296"/>
            <a:ext cx="7338060" cy="685800"/>
            <a:chOff x="0" y="0"/>
            <a:chExt cx="9784080" cy="9144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9784080" cy="914400"/>
            </a:xfrm>
            <a:custGeom>
              <a:avLst/>
              <a:gdLst/>
              <a:ahLst/>
              <a:cxnLst/>
              <a:rect l="l" t="t" r="r" b="b"/>
              <a:pathLst>
                <a:path w="9784080" h="914400">
                  <a:moveTo>
                    <a:pt x="0" y="0"/>
                  </a:moveTo>
                  <a:lnTo>
                    <a:pt x="9784080" y="0"/>
                  </a:lnTo>
                  <a:lnTo>
                    <a:pt x="9784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489" b="-158489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57150"/>
              <a:ext cx="978408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72"/>
                </a:lnSpc>
              </a:pPr>
              <a:r>
                <a:rPr lang="en-US" sz="2024">
                  <a:solidFill>
                    <a:srgbClr val="CADC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Lets parents monitor progress beyond the clinic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9189720" y="7735824"/>
            <a:ext cx="411480" cy="411480"/>
            <a:chOff x="0" y="0"/>
            <a:chExt cx="548640" cy="548640"/>
          </a:xfrm>
        </p:grpSpPr>
        <p:sp>
          <p:nvSpPr>
            <p:cNvPr id="73" name="Freeform 73" descr="/home/claude/work/icons/heart.png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74" name="Group 74"/>
          <p:cNvGrpSpPr/>
          <p:nvPr/>
        </p:nvGrpSpPr>
        <p:grpSpPr>
          <a:xfrm>
            <a:off x="9806940" y="7653528"/>
            <a:ext cx="7338060" cy="685800"/>
            <a:chOff x="0" y="0"/>
            <a:chExt cx="9784080" cy="9144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9784080" cy="914400"/>
            </a:xfrm>
            <a:custGeom>
              <a:avLst/>
              <a:gdLst/>
              <a:ahLst/>
              <a:cxnLst/>
              <a:rect l="l" t="t" r="r" b="b"/>
              <a:pathLst>
                <a:path w="9784080" h="914400">
                  <a:moveTo>
                    <a:pt x="0" y="0"/>
                  </a:moveTo>
                  <a:lnTo>
                    <a:pt x="9784080" y="0"/>
                  </a:lnTo>
                  <a:lnTo>
                    <a:pt x="9784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489" b="-158489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57150"/>
              <a:ext cx="978408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72"/>
                </a:lnSpc>
              </a:pPr>
              <a:r>
                <a:rPr lang="en-US" sz="2024">
                  <a:solidFill>
                    <a:srgbClr val="CADC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Supports inclusive education &amp; daily-life attention skills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189720" y="8449056"/>
            <a:ext cx="411480" cy="411480"/>
            <a:chOff x="0" y="0"/>
            <a:chExt cx="548640" cy="548640"/>
          </a:xfrm>
        </p:grpSpPr>
        <p:sp>
          <p:nvSpPr>
            <p:cNvPr id="78" name="Freeform 78" descr="/home/claude/work/icons/heart.png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79" name="Group 79"/>
          <p:cNvGrpSpPr/>
          <p:nvPr/>
        </p:nvGrpSpPr>
        <p:grpSpPr>
          <a:xfrm>
            <a:off x="9806940" y="8366760"/>
            <a:ext cx="7338060" cy="685800"/>
            <a:chOff x="0" y="0"/>
            <a:chExt cx="9784080" cy="9144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9784080" cy="914400"/>
            </a:xfrm>
            <a:custGeom>
              <a:avLst/>
              <a:gdLst/>
              <a:ahLst/>
              <a:cxnLst/>
              <a:rect l="l" t="t" r="r" b="b"/>
              <a:pathLst>
                <a:path w="9784080" h="914400">
                  <a:moveTo>
                    <a:pt x="0" y="0"/>
                  </a:moveTo>
                  <a:lnTo>
                    <a:pt x="9784080" y="0"/>
                  </a:lnTo>
                  <a:lnTo>
                    <a:pt x="97840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489" b="-158489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57150"/>
              <a:ext cx="978408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72"/>
                </a:lnSpc>
              </a:pPr>
              <a:r>
                <a:rPr lang="en-US" sz="2024">
                  <a:solidFill>
                    <a:srgbClr val="CADC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Portable design widens access in underserved communities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754380" y="9601200"/>
            <a:ext cx="4114800" cy="480060"/>
            <a:chOff x="0" y="0"/>
            <a:chExt cx="5486400" cy="64008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5486400" cy="640080"/>
            </a:xfrm>
            <a:custGeom>
              <a:avLst/>
              <a:gdLst/>
              <a:ahLst/>
              <a:cxnLst/>
              <a:rect l="l" t="t" r="r" b="b"/>
              <a:pathLst>
                <a:path w="5486400" h="640080">
                  <a:moveTo>
                    <a:pt x="0" y="0"/>
                  </a:moveTo>
                  <a:lnTo>
                    <a:pt x="5486400" y="0"/>
                  </a:lnTo>
                  <a:lnTo>
                    <a:pt x="5486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14" b="-117014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38100"/>
              <a:ext cx="54864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50">
                  <a:solidFill>
                    <a:srgbClr val="5B6B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MONOJOG+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7053103" y="9601200"/>
            <a:ext cx="822960" cy="480060"/>
            <a:chOff x="0" y="0"/>
            <a:chExt cx="1097280" cy="64008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6230143" y="-685800"/>
            <a:ext cx="3017520" cy="3017520"/>
            <a:chOff x="0" y="0"/>
            <a:chExt cx="4023360" cy="4023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23360" cy="4023360"/>
            </a:xfrm>
            <a:custGeom>
              <a:avLst/>
              <a:gdLst/>
              <a:ahLst/>
              <a:cxnLst/>
              <a:rect l="l" t="t" r="r" b="b"/>
              <a:pathLst>
                <a:path w="4023360" h="4023360">
                  <a:moveTo>
                    <a:pt x="0" y="4023360"/>
                  </a:moveTo>
                  <a:lnTo>
                    <a:pt x="2011680" y="0"/>
                  </a:lnTo>
                  <a:lnTo>
                    <a:pt x="4023360" y="4023360"/>
                  </a:lnTo>
                  <a:close/>
                </a:path>
              </a:pathLst>
            </a:custGeom>
            <a:solidFill>
              <a:srgbClr val="1C7293">
                <a:alpha val="784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-822960" y="8366760"/>
            <a:ext cx="2468880" cy="2468880"/>
            <a:chOff x="0" y="0"/>
            <a:chExt cx="3291840" cy="3291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91840" cy="3291840"/>
            </a:xfrm>
            <a:custGeom>
              <a:avLst/>
              <a:gdLst/>
              <a:ahLst/>
              <a:cxnLst/>
              <a:rect l="l" t="t" r="r" b="b"/>
              <a:pathLst>
                <a:path w="3291840" h="3291840">
                  <a:moveTo>
                    <a:pt x="0" y="3291840"/>
                  </a:moveTo>
                  <a:lnTo>
                    <a:pt x="1645920" y="0"/>
                  </a:lnTo>
                  <a:lnTo>
                    <a:pt x="3291840" y="3291840"/>
                  </a:lnTo>
                  <a:close/>
                </a:path>
              </a:pathLst>
            </a:custGeom>
            <a:solidFill>
              <a:srgbClr val="F2994A">
                <a:alpha val="392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54380" y="685800"/>
            <a:ext cx="123444" cy="438912"/>
            <a:chOff x="0" y="0"/>
            <a:chExt cx="164592" cy="5852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92" cy="585216"/>
            </a:xfrm>
            <a:custGeom>
              <a:avLst/>
              <a:gdLst/>
              <a:ahLst/>
              <a:cxnLst/>
              <a:rect l="l" t="t" r="r" b="b"/>
              <a:pathLst>
                <a:path w="164592" h="585216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91440" y="0"/>
                  </a:lnTo>
                  <a:cubicBezTo>
                    <a:pt x="131826" y="0"/>
                    <a:pt x="164592" y="32766"/>
                    <a:pt x="164592" y="73152"/>
                  </a:cubicBezTo>
                  <a:lnTo>
                    <a:pt x="164592" y="512064"/>
                  </a:lnTo>
                  <a:cubicBezTo>
                    <a:pt x="164592" y="552450"/>
                    <a:pt x="131826" y="585216"/>
                    <a:pt x="91440" y="585216"/>
                  </a:cubicBezTo>
                  <a:lnTo>
                    <a:pt x="73152" y="585216"/>
                  </a:lnTo>
                  <a:cubicBezTo>
                    <a:pt x="32766" y="585216"/>
                    <a:pt x="0" y="552450"/>
                    <a:pt x="0" y="512064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28700" y="603504"/>
            <a:ext cx="10972800" cy="548640"/>
            <a:chOff x="0" y="0"/>
            <a:chExt cx="14630400" cy="731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 spc="300">
                  <a:solidFill>
                    <a:srgbClr val="F299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COMPARATIVE ADVANTAGE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4380" y="1069848"/>
            <a:ext cx="14401800" cy="1165860"/>
            <a:chOff x="0" y="0"/>
            <a:chExt cx="19202400" cy="15544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202400" cy="1554480"/>
            </a:xfrm>
            <a:custGeom>
              <a:avLst/>
              <a:gdLst/>
              <a:ahLst/>
              <a:cxnLst/>
              <a:rect l="l" t="t" r="r" b="b"/>
              <a:pathLst>
                <a:path w="19202400" h="1554480">
                  <a:moveTo>
                    <a:pt x="0" y="0"/>
                  </a:moveTo>
                  <a:lnTo>
                    <a:pt x="19202400" y="0"/>
                  </a:lnTo>
                  <a:lnTo>
                    <a:pt x="19202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697" b="-19069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9202400" cy="1573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Why MONOJOG+, and Why Now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4855" y="2665095"/>
            <a:ext cx="5436870" cy="6671310"/>
            <a:chOff x="0" y="0"/>
            <a:chExt cx="7249160" cy="88950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249161" cy="8895080"/>
            </a:xfrm>
            <a:custGeom>
              <a:avLst/>
              <a:gdLst/>
              <a:ahLst/>
              <a:cxnLst/>
              <a:rect l="l" t="t" r="r" b="b"/>
              <a:pathLst>
                <a:path w="7249161" h="889508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7028942" y="0"/>
                  </a:lnTo>
                  <a:cubicBezTo>
                    <a:pt x="7150608" y="0"/>
                    <a:pt x="7249161" y="98552"/>
                    <a:pt x="7249161" y="220218"/>
                  </a:cubicBezTo>
                  <a:lnTo>
                    <a:pt x="7249161" y="8674862"/>
                  </a:lnTo>
                  <a:cubicBezTo>
                    <a:pt x="7249161" y="8796528"/>
                    <a:pt x="7150608" y="8895080"/>
                    <a:pt x="7028942" y="8895080"/>
                  </a:cubicBezTo>
                  <a:lnTo>
                    <a:pt x="220218" y="8895080"/>
                  </a:lnTo>
                  <a:cubicBezTo>
                    <a:pt x="98552" y="8895080"/>
                    <a:pt x="0" y="8796528"/>
                    <a:pt x="0" y="867486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D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097280" y="3058668"/>
            <a:ext cx="4732020" cy="109728"/>
            <a:chOff x="0" y="0"/>
            <a:chExt cx="6309360" cy="14630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09360" cy="146304"/>
            </a:xfrm>
            <a:custGeom>
              <a:avLst/>
              <a:gdLst/>
              <a:ahLst/>
              <a:cxnLst/>
              <a:rect l="l" t="t" r="r" b="b"/>
              <a:pathLst>
                <a:path w="6309360" h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6236208" y="0"/>
                  </a:lnTo>
                  <a:cubicBezTo>
                    <a:pt x="6276594" y="0"/>
                    <a:pt x="6309360" y="32766"/>
                    <a:pt x="6309360" y="73152"/>
                  </a:cubicBezTo>
                  <a:cubicBezTo>
                    <a:pt x="6309360" y="113538"/>
                    <a:pt x="6276594" y="146304"/>
                    <a:pt x="6236208" y="146304"/>
                  </a:cubicBezTo>
                  <a:lnTo>
                    <a:pt x="73152" y="146304"/>
                  </a:ln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5B6B79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069848" y="2604252"/>
            <a:ext cx="4732020" cy="2101098"/>
            <a:chOff x="0" y="0"/>
            <a:chExt cx="6309360" cy="280146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09360" cy="2801465"/>
            </a:xfrm>
            <a:custGeom>
              <a:avLst/>
              <a:gdLst/>
              <a:ahLst/>
              <a:cxnLst/>
              <a:rect l="l" t="t" r="r" b="b"/>
              <a:pathLst>
                <a:path w="6309360" h="2801465">
                  <a:moveTo>
                    <a:pt x="0" y="0"/>
                  </a:moveTo>
                  <a:lnTo>
                    <a:pt x="6309360" y="0"/>
                  </a:lnTo>
                  <a:lnTo>
                    <a:pt x="6309360" y="2801465"/>
                  </a:lnTo>
                  <a:lnTo>
                    <a:pt x="0" y="28014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931" b="38164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6309360" cy="2810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49"/>
                </a:lnSpc>
              </a:pPr>
              <a:r>
                <a:rPr lang="en-US" sz="2874" b="1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Observation-Only Therapy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95375" y="4102359"/>
            <a:ext cx="4732020" cy="480060"/>
            <a:chOff x="0" y="0"/>
            <a:chExt cx="6309360" cy="6400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09360" cy="640080"/>
            </a:xfrm>
            <a:custGeom>
              <a:avLst/>
              <a:gdLst/>
              <a:ahLst/>
              <a:cxnLst/>
              <a:rect l="l" t="t" r="r" b="b"/>
              <a:pathLst>
                <a:path w="6309360" h="640080">
                  <a:moveTo>
                    <a:pt x="0" y="0"/>
                  </a:moveTo>
                  <a:lnTo>
                    <a:pt x="6309360" y="0"/>
                  </a:lnTo>
                  <a:lnTo>
                    <a:pt x="6309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2066" b="-142066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630936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69"/>
                </a:lnSpc>
              </a:pPr>
              <a:r>
                <a:rPr lang="en-US" sz="1974" i="1">
                  <a:solidFill>
                    <a:srgbClr val="5B6B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Traditional approach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97280" y="4800600"/>
            <a:ext cx="329184" cy="329184"/>
            <a:chOff x="0" y="0"/>
            <a:chExt cx="438912" cy="43891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5B6B79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549908" y="4690872"/>
            <a:ext cx="4251960" cy="822960"/>
            <a:chOff x="0" y="0"/>
            <a:chExt cx="5669280" cy="10972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669280" cy="1097280"/>
            </a:xfrm>
            <a:custGeom>
              <a:avLst/>
              <a:gdLst/>
              <a:ahLst/>
              <a:cxnLst/>
              <a:rect l="l" t="t" r="r" b="b"/>
              <a:pathLst>
                <a:path w="5669280" h="1097280">
                  <a:moveTo>
                    <a:pt x="0" y="0"/>
                  </a:moveTo>
                  <a:lnTo>
                    <a:pt x="5669280" y="0"/>
                  </a:lnTo>
                  <a:lnTo>
                    <a:pt x="5669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2" b="-50672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566928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55"/>
                </a:lnSpc>
              </a:pPr>
              <a:r>
                <a:rPr lang="en-US" sz="2049">
                  <a:solidFill>
                    <a:srgbClr val="1A22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Subjective, therapist-dependent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97280" y="5870448"/>
            <a:ext cx="329184" cy="329184"/>
            <a:chOff x="0" y="0"/>
            <a:chExt cx="438912" cy="43891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5B6B79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549908" y="5760720"/>
            <a:ext cx="4251960" cy="822960"/>
            <a:chOff x="0" y="0"/>
            <a:chExt cx="5669280" cy="109728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669280" cy="1097280"/>
            </a:xfrm>
            <a:custGeom>
              <a:avLst/>
              <a:gdLst/>
              <a:ahLst/>
              <a:cxnLst/>
              <a:rect l="l" t="t" r="r" b="b"/>
              <a:pathLst>
                <a:path w="5669280" h="1097280">
                  <a:moveTo>
                    <a:pt x="0" y="0"/>
                  </a:moveTo>
                  <a:lnTo>
                    <a:pt x="5669280" y="0"/>
                  </a:lnTo>
                  <a:lnTo>
                    <a:pt x="5669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2" b="-50672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66675"/>
              <a:ext cx="566928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55"/>
                </a:lnSpc>
              </a:pPr>
              <a:r>
                <a:rPr lang="en-US" sz="2049">
                  <a:solidFill>
                    <a:srgbClr val="1A22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continuous data trail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97280" y="6940296"/>
            <a:ext cx="329184" cy="329184"/>
            <a:chOff x="0" y="0"/>
            <a:chExt cx="438912" cy="43891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5B6B79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549908" y="6830568"/>
            <a:ext cx="4251960" cy="822960"/>
            <a:chOff x="0" y="0"/>
            <a:chExt cx="5669280" cy="109728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669280" cy="1097280"/>
            </a:xfrm>
            <a:custGeom>
              <a:avLst/>
              <a:gdLst/>
              <a:ahLst/>
              <a:cxnLst/>
              <a:rect l="l" t="t" r="r" b="b"/>
              <a:pathLst>
                <a:path w="5669280" h="1097280">
                  <a:moveTo>
                    <a:pt x="0" y="0"/>
                  </a:moveTo>
                  <a:lnTo>
                    <a:pt x="5669280" y="0"/>
                  </a:lnTo>
                  <a:lnTo>
                    <a:pt x="5669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2" b="-50672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66675"/>
              <a:ext cx="566928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55"/>
                </a:lnSpc>
              </a:pPr>
              <a:r>
                <a:rPr lang="en-US" sz="2049">
                  <a:solidFill>
                    <a:srgbClr val="1A22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Hard to compare across sessions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97280" y="8010144"/>
            <a:ext cx="329184" cy="329184"/>
            <a:chOff x="0" y="0"/>
            <a:chExt cx="438912" cy="43891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5B6B79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549908" y="7900416"/>
            <a:ext cx="4251960" cy="822960"/>
            <a:chOff x="0" y="0"/>
            <a:chExt cx="5669280" cy="109728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669280" cy="1097280"/>
            </a:xfrm>
            <a:custGeom>
              <a:avLst/>
              <a:gdLst/>
              <a:ahLst/>
              <a:cxnLst/>
              <a:rect l="l" t="t" r="r" b="b"/>
              <a:pathLst>
                <a:path w="5669280" h="1097280">
                  <a:moveTo>
                    <a:pt x="0" y="0"/>
                  </a:moveTo>
                  <a:lnTo>
                    <a:pt x="5669280" y="0"/>
                  </a:lnTo>
                  <a:lnTo>
                    <a:pt x="5669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2" b="-50672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66675"/>
              <a:ext cx="566928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55"/>
                </a:lnSpc>
              </a:pPr>
              <a:r>
                <a:rPr lang="en-US" sz="2049">
                  <a:solidFill>
                    <a:srgbClr val="1A22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Low-cost but low objectivity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436995" y="2665095"/>
            <a:ext cx="5436870" cy="6671310"/>
            <a:chOff x="0" y="0"/>
            <a:chExt cx="7249160" cy="88950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249161" cy="8895080"/>
            </a:xfrm>
            <a:custGeom>
              <a:avLst/>
              <a:gdLst/>
              <a:ahLst/>
              <a:cxnLst/>
              <a:rect l="l" t="t" r="r" b="b"/>
              <a:pathLst>
                <a:path w="7249161" h="889508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7028942" y="0"/>
                  </a:lnTo>
                  <a:cubicBezTo>
                    <a:pt x="7150608" y="0"/>
                    <a:pt x="7249161" y="98552"/>
                    <a:pt x="7249161" y="220218"/>
                  </a:cubicBezTo>
                  <a:lnTo>
                    <a:pt x="7249161" y="8674862"/>
                  </a:lnTo>
                  <a:cubicBezTo>
                    <a:pt x="7249161" y="8796528"/>
                    <a:pt x="7150608" y="8895080"/>
                    <a:pt x="7028942" y="8895080"/>
                  </a:cubicBezTo>
                  <a:lnTo>
                    <a:pt x="220218" y="8895080"/>
                  </a:lnTo>
                  <a:cubicBezTo>
                    <a:pt x="98552" y="8895080"/>
                    <a:pt x="0" y="8796528"/>
                    <a:pt x="0" y="867486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D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6789420" y="3058668"/>
            <a:ext cx="4732020" cy="109728"/>
            <a:chOff x="0" y="0"/>
            <a:chExt cx="6309360" cy="14630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309360" cy="146304"/>
            </a:xfrm>
            <a:custGeom>
              <a:avLst/>
              <a:gdLst/>
              <a:ahLst/>
              <a:cxnLst/>
              <a:rect l="l" t="t" r="r" b="b"/>
              <a:pathLst>
                <a:path w="6309360" h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6236208" y="0"/>
                  </a:lnTo>
                  <a:cubicBezTo>
                    <a:pt x="6276594" y="0"/>
                    <a:pt x="6309360" y="32766"/>
                    <a:pt x="6309360" y="73152"/>
                  </a:cubicBezTo>
                  <a:cubicBezTo>
                    <a:pt x="6309360" y="113538"/>
                    <a:pt x="6276594" y="146304"/>
                    <a:pt x="6236208" y="146304"/>
                  </a:cubicBezTo>
                  <a:lnTo>
                    <a:pt x="73152" y="146304"/>
                  </a:ln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6761988" y="2589774"/>
            <a:ext cx="4732020" cy="2101098"/>
            <a:chOff x="0" y="0"/>
            <a:chExt cx="6309360" cy="2801465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309360" cy="2801465"/>
            </a:xfrm>
            <a:custGeom>
              <a:avLst/>
              <a:gdLst/>
              <a:ahLst/>
              <a:cxnLst/>
              <a:rect l="l" t="t" r="r" b="b"/>
              <a:pathLst>
                <a:path w="6309360" h="2801465">
                  <a:moveTo>
                    <a:pt x="0" y="0"/>
                  </a:moveTo>
                  <a:lnTo>
                    <a:pt x="6309360" y="0"/>
                  </a:lnTo>
                  <a:lnTo>
                    <a:pt x="6309360" y="2801465"/>
                  </a:lnTo>
                  <a:lnTo>
                    <a:pt x="0" y="28014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931" b="38164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9525"/>
              <a:ext cx="6309360" cy="2810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49"/>
                </a:lnSpc>
              </a:pPr>
              <a:r>
                <a:rPr lang="en-US" sz="2874" b="1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Clinical EEG Systems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789420" y="3977640"/>
            <a:ext cx="4732020" cy="480060"/>
            <a:chOff x="0" y="0"/>
            <a:chExt cx="6309360" cy="64008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6309360" cy="640080"/>
            </a:xfrm>
            <a:custGeom>
              <a:avLst/>
              <a:gdLst/>
              <a:ahLst/>
              <a:cxnLst/>
              <a:rect l="l" t="t" r="r" b="b"/>
              <a:pathLst>
                <a:path w="6309360" h="640080">
                  <a:moveTo>
                    <a:pt x="0" y="0"/>
                  </a:moveTo>
                  <a:lnTo>
                    <a:pt x="6309360" y="0"/>
                  </a:lnTo>
                  <a:lnTo>
                    <a:pt x="6309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2066" b="-142066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630936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69"/>
                </a:lnSpc>
              </a:pPr>
              <a:r>
                <a:rPr lang="en-US" sz="1974" i="1">
                  <a:solidFill>
                    <a:srgbClr val="5B6B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e.g. lab BCI rigs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789420" y="4800600"/>
            <a:ext cx="329184" cy="329184"/>
            <a:chOff x="0" y="0"/>
            <a:chExt cx="438912" cy="43891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7242048" y="4690872"/>
            <a:ext cx="4251960" cy="822960"/>
            <a:chOff x="0" y="0"/>
            <a:chExt cx="5669280" cy="109728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669280" cy="1097280"/>
            </a:xfrm>
            <a:custGeom>
              <a:avLst/>
              <a:gdLst/>
              <a:ahLst/>
              <a:cxnLst/>
              <a:rect l="l" t="t" r="r" b="b"/>
              <a:pathLst>
                <a:path w="5669280" h="1097280">
                  <a:moveTo>
                    <a:pt x="0" y="0"/>
                  </a:moveTo>
                  <a:lnTo>
                    <a:pt x="5669280" y="0"/>
                  </a:lnTo>
                  <a:lnTo>
                    <a:pt x="5669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2" b="-50672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66675"/>
              <a:ext cx="566928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55"/>
                </a:lnSpc>
              </a:pPr>
              <a:r>
                <a:rPr lang="en-US" sz="2049">
                  <a:solidFill>
                    <a:srgbClr val="1A22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Objective brain data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789420" y="5870448"/>
            <a:ext cx="329184" cy="329184"/>
            <a:chOff x="0" y="0"/>
            <a:chExt cx="438912" cy="43891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7242048" y="5760720"/>
            <a:ext cx="4251960" cy="822960"/>
            <a:chOff x="0" y="0"/>
            <a:chExt cx="5669280" cy="109728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669280" cy="1097280"/>
            </a:xfrm>
            <a:custGeom>
              <a:avLst/>
              <a:gdLst/>
              <a:ahLst/>
              <a:cxnLst/>
              <a:rect l="l" t="t" r="r" b="b"/>
              <a:pathLst>
                <a:path w="5669280" h="1097280">
                  <a:moveTo>
                    <a:pt x="0" y="0"/>
                  </a:moveTo>
                  <a:lnTo>
                    <a:pt x="5669280" y="0"/>
                  </a:lnTo>
                  <a:lnTo>
                    <a:pt x="5669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2" b="-50672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66675"/>
              <a:ext cx="566928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55"/>
                </a:lnSpc>
              </a:pPr>
              <a:r>
                <a:rPr lang="en-US" sz="2049">
                  <a:solidFill>
                    <a:srgbClr val="1A22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Expensive &amp; complex setup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789420" y="6940296"/>
            <a:ext cx="329184" cy="329184"/>
            <a:chOff x="0" y="0"/>
            <a:chExt cx="438912" cy="438912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7242048" y="6830568"/>
            <a:ext cx="4251960" cy="822960"/>
            <a:chOff x="0" y="0"/>
            <a:chExt cx="5669280" cy="109728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5669280" cy="1097280"/>
            </a:xfrm>
            <a:custGeom>
              <a:avLst/>
              <a:gdLst/>
              <a:ahLst/>
              <a:cxnLst/>
              <a:rect l="l" t="t" r="r" b="b"/>
              <a:pathLst>
                <a:path w="5669280" h="1097280">
                  <a:moveTo>
                    <a:pt x="0" y="0"/>
                  </a:moveTo>
                  <a:lnTo>
                    <a:pt x="5669280" y="0"/>
                  </a:lnTo>
                  <a:lnTo>
                    <a:pt x="5669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2" b="-50672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66675"/>
              <a:ext cx="566928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55"/>
                </a:lnSpc>
              </a:pPr>
              <a:r>
                <a:rPr lang="en-US" sz="2049">
                  <a:solidFill>
                    <a:srgbClr val="1A22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 designed for daily/home use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789420" y="8010144"/>
            <a:ext cx="329184" cy="329184"/>
            <a:chOff x="0" y="0"/>
            <a:chExt cx="438912" cy="438912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7242048" y="7900416"/>
            <a:ext cx="4251960" cy="822960"/>
            <a:chOff x="0" y="0"/>
            <a:chExt cx="5669280" cy="109728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669280" cy="1097280"/>
            </a:xfrm>
            <a:custGeom>
              <a:avLst/>
              <a:gdLst/>
              <a:ahLst/>
              <a:cxnLst/>
              <a:rect l="l" t="t" r="r" b="b"/>
              <a:pathLst>
                <a:path w="5669280" h="1097280">
                  <a:moveTo>
                    <a:pt x="0" y="0"/>
                  </a:moveTo>
                  <a:lnTo>
                    <a:pt x="5669280" y="0"/>
                  </a:lnTo>
                  <a:lnTo>
                    <a:pt x="5669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2" b="-50672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66675"/>
              <a:ext cx="566928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55"/>
                </a:lnSpc>
              </a:pPr>
              <a:r>
                <a:rPr lang="en-US" sz="2049">
                  <a:solidFill>
                    <a:srgbClr val="1A22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Rarely available locally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2129135" y="2665095"/>
            <a:ext cx="5436870" cy="6671310"/>
            <a:chOff x="0" y="0"/>
            <a:chExt cx="7249160" cy="889508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7249161" cy="8895080"/>
            </a:xfrm>
            <a:custGeom>
              <a:avLst/>
              <a:gdLst/>
              <a:ahLst/>
              <a:cxnLst/>
              <a:rect l="l" t="t" r="r" b="b"/>
              <a:pathLst>
                <a:path w="7249161" h="889508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7028942" y="0"/>
                  </a:lnTo>
                  <a:cubicBezTo>
                    <a:pt x="7150608" y="0"/>
                    <a:pt x="7249161" y="98552"/>
                    <a:pt x="7249161" y="220218"/>
                  </a:cubicBezTo>
                  <a:lnTo>
                    <a:pt x="7249161" y="8674862"/>
                  </a:lnTo>
                  <a:cubicBezTo>
                    <a:pt x="7249161" y="8796528"/>
                    <a:pt x="7150608" y="8895080"/>
                    <a:pt x="7028942" y="8895080"/>
                  </a:cubicBezTo>
                  <a:lnTo>
                    <a:pt x="220218" y="8895080"/>
                  </a:lnTo>
                  <a:cubicBezTo>
                    <a:pt x="98552" y="8895080"/>
                    <a:pt x="0" y="8796528"/>
                    <a:pt x="0" y="8674862"/>
                  </a:cubicBezTo>
                  <a:close/>
                </a:path>
              </a:pathLst>
            </a:custGeom>
            <a:solidFill>
              <a:srgbClr val="1B2A4A"/>
            </a:solidFill>
            <a:ln w="19050" cap="sq">
              <a:solidFill>
                <a:srgbClr val="1B2A4A"/>
              </a:solidFill>
              <a:prstDash val="solid"/>
              <a:miter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12481560" y="3058668"/>
            <a:ext cx="4732020" cy="109728"/>
            <a:chOff x="0" y="0"/>
            <a:chExt cx="6309360" cy="146304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6309360" cy="146304"/>
            </a:xfrm>
            <a:custGeom>
              <a:avLst/>
              <a:gdLst/>
              <a:ahLst/>
              <a:cxnLst/>
              <a:rect l="l" t="t" r="r" b="b"/>
              <a:pathLst>
                <a:path w="6309360" h="146304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6236208" y="0"/>
                  </a:lnTo>
                  <a:cubicBezTo>
                    <a:pt x="6276594" y="0"/>
                    <a:pt x="6309360" y="32766"/>
                    <a:pt x="6309360" y="73152"/>
                  </a:cubicBezTo>
                  <a:cubicBezTo>
                    <a:pt x="6309360" y="113538"/>
                    <a:pt x="6276594" y="146304"/>
                    <a:pt x="6236208" y="146304"/>
                  </a:cubicBezTo>
                  <a:lnTo>
                    <a:pt x="73152" y="146304"/>
                  </a:lnTo>
                  <a:cubicBezTo>
                    <a:pt x="32766" y="146304"/>
                    <a:pt x="0" y="113538"/>
                    <a:pt x="0" y="73152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id="78" name="Group 78"/>
          <p:cNvGrpSpPr/>
          <p:nvPr/>
        </p:nvGrpSpPr>
        <p:grpSpPr>
          <a:xfrm>
            <a:off x="12481560" y="2604252"/>
            <a:ext cx="4732020" cy="2101098"/>
            <a:chOff x="0" y="0"/>
            <a:chExt cx="6309360" cy="2801465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6309360" cy="2801465"/>
            </a:xfrm>
            <a:custGeom>
              <a:avLst/>
              <a:gdLst/>
              <a:ahLst/>
              <a:cxnLst/>
              <a:rect l="l" t="t" r="r" b="b"/>
              <a:pathLst>
                <a:path w="6309360" h="2801465">
                  <a:moveTo>
                    <a:pt x="0" y="0"/>
                  </a:moveTo>
                  <a:lnTo>
                    <a:pt x="6309360" y="0"/>
                  </a:lnTo>
                  <a:lnTo>
                    <a:pt x="6309360" y="2801465"/>
                  </a:lnTo>
                  <a:lnTo>
                    <a:pt x="0" y="28014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931" b="38164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9525"/>
              <a:ext cx="6309360" cy="2810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49"/>
                </a:lnSpc>
              </a:pPr>
              <a:r>
                <a:rPr lang="en-US" sz="2874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MONOJOG+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2481560" y="3977640"/>
            <a:ext cx="4732020" cy="480060"/>
            <a:chOff x="0" y="0"/>
            <a:chExt cx="6309360" cy="64008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6309360" cy="640080"/>
            </a:xfrm>
            <a:custGeom>
              <a:avLst/>
              <a:gdLst/>
              <a:ahLst/>
              <a:cxnLst/>
              <a:rect l="l" t="t" r="r" b="b"/>
              <a:pathLst>
                <a:path w="6309360" h="640080">
                  <a:moveTo>
                    <a:pt x="0" y="0"/>
                  </a:moveTo>
                  <a:lnTo>
                    <a:pt x="6309360" y="0"/>
                  </a:lnTo>
                  <a:lnTo>
                    <a:pt x="6309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2066" b="-142066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47625"/>
              <a:ext cx="630936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69"/>
                </a:lnSpc>
              </a:pPr>
              <a:r>
                <a:rPr lang="en-US" sz="1974" i="1">
                  <a:solidFill>
                    <a:srgbClr val="9FB3C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Our approach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2481560" y="4800600"/>
            <a:ext cx="329184" cy="329184"/>
            <a:chOff x="0" y="0"/>
            <a:chExt cx="438912" cy="438912"/>
          </a:xfrm>
        </p:grpSpPr>
        <p:sp>
          <p:nvSpPr>
            <p:cNvPr id="85" name="Freeform 85" descr="/home/claude/work/icons/checkCircle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86" name="Group 86"/>
          <p:cNvGrpSpPr/>
          <p:nvPr/>
        </p:nvGrpSpPr>
        <p:grpSpPr>
          <a:xfrm>
            <a:off x="12934188" y="4690872"/>
            <a:ext cx="4251960" cy="822960"/>
            <a:chOff x="0" y="0"/>
            <a:chExt cx="5669280" cy="109728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5669280" cy="1097280"/>
            </a:xfrm>
            <a:custGeom>
              <a:avLst/>
              <a:gdLst/>
              <a:ahLst/>
              <a:cxnLst/>
              <a:rect l="l" t="t" r="r" b="b"/>
              <a:pathLst>
                <a:path w="5669280" h="1097280">
                  <a:moveTo>
                    <a:pt x="0" y="0"/>
                  </a:moveTo>
                  <a:lnTo>
                    <a:pt x="5669280" y="0"/>
                  </a:lnTo>
                  <a:lnTo>
                    <a:pt x="5669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2" b="-50672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66675"/>
              <a:ext cx="566928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55"/>
                </a:lnSpc>
              </a:pPr>
              <a:r>
                <a:rPr lang="en-US" sz="2049">
                  <a:solidFill>
                    <a:srgbClr val="E7EE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Objective, real-time attention data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2481560" y="5870448"/>
            <a:ext cx="329184" cy="329184"/>
            <a:chOff x="0" y="0"/>
            <a:chExt cx="438912" cy="438912"/>
          </a:xfrm>
        </p:grpSpPr>
        <p:sp>
          <p:nvSpPr>
            <p:cNvPr id="90" name="Freeform 90" descr="/home/claude/work/icons/checkCircle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91" name="Group 91"/>
          <p:cNvGrpSpPr/>
          <p:nvPr/>
        </p:nvGrpSpPr>
        <p:grpSpPr>
          <a:xfrm>
            <a:off x="12934188" y="5760720"/>
            <a:ext cx="4251960" cy="822960"/>
            <a:chOff x="0" y="0"/>
            <a:chExt cx="5669280" cy="109728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5669280" cy="1097280"/>
            </a:xfrm>
            <a:custGeom>
              <a:avLst/>
              <a:gdLst/>
              <a:ahLst/>
              <a:cxnLst/>
              <a:rect l="l" t="t" r="r" b="b"/>
              <a:pathLst>
                <a:path w="5669280" h="1097280">
                  <a:moveTo>
                    <a:pt x="0" y="0"/>
                  </a:moveTo>
                  <a:lnTo>
                    <a:pt x="5669280" y="0"/>
                  </a:lnTo>
                  <a:lnTo>
                    <a:pt x="5669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2" b="-50672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66675"/>
              <a:ext cx="566928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55"/>
                </a:lnSpc>
              </a:pPr>
              <a:r>
                <a:rPr lang="en-US" sz="2049">
                  <a:solidFill>
                    <a:srgbClr val="E7EE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Engaging, game-based sessions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2481560" y="6940296"/>
            <a:ext cx="329184" cy="329184"/>
            <a:chOff x="0" y="0"/>
            <a:chExt cx="438912" cy="438912"/>
          </a:xfrm>
        </p:grpSpPr>
        <p:sp>
          <p:nvSpPr>
            <p:cNvPr id="95" name="Freeform 95" descr="/home/claude/work/icons/checkCircle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96" name="Group 96"/>
          <p:cNvGrpSpPr/>
          <p:nvPr/>
        </p:nvGrpSpPr>
        <p:grpSpPr>
          <a:xfrm>
            <a:off x="12934188" y="6830568"/>
            <a:ext cx="4251960" cy="822960"/>
            <a:chOff x="0" y="0"/>
            <a:chExt cx="5669280" cy="109728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5669280" cy="1097280"/>
            </a:xfrm>
            <a:custGeom>
              <a:avLst/>
              <a:gdLst/>
              <a:ahLst/>
              <a:cxnLst/>
              <a:rect l="l" t="t" r="r" b="b"/>
              <a:pathLst>
                <a:path w="5669280" h="1097280">
                  <a:moveTo>
                    <a:pt x="0" y="0"/>
                  </a:moveTo>
                  <a:lnTo>
                    <a:pt x="5669280" y="0"/>
                  </a:lnTo>
                  <a:lnTo>
                    <a:pt x="5669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2" b="-50672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-66675"/>
              <a:ext cx="566928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55"/>
                </a:lnSpc>
              </a:pPr>
              <a:r>
                <a:rPr lang="en-US" sz="2049">
                  <a:solidFill>
                    <a:srgbClr val="E7EE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Affordable, wearable, portable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2481560" y="8010144"/>
            <a:ext cx="329184" cy="329184"/>
            <a:chOff x="0" y="0"/>
            <a:chExt cx="438912" cy="438912"/>
          </a:xfrm>
        </p:grpSpPr>
        <p:sp>
          <p:nvSpPr>
            <p:cNvPr id="100" name="Freeform 100" descr="/home/claude/work/icons/checkCircle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01" name="Group 101"/>
          <p:cNvGrpSpPr/>
          <p:nvPr/>
        </p:nvGrpSpPr>
        <p:grpSpPr>
          <a:xfrm>
            <a:off x="12934188" y="7900416"/>
            <a:ext cx="4251960" cy="822960"/>
            <a:chOff x="0" y="0"/>
            <a:chExt cx="5669280" cy="109728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5669280" cy="1097280"/>
            </a:xfrm>
            <a:custGeom>
              <a:avLst/>
              <a:gdLst/>
              <a:ahLst/>
              <a:cxnLst/>
              <a:rect l="l" t="t" r="r" b="b"/>
              <a:pathLst>
                <a:path w="5669280" h="1097280">
                  <a:moveTo>
                    <a:pt x="0" y="0"/>
                  </a:moveTo>
                  <a:lnTo>
                    <a:pt x="5669280" y="0"/>
                  </a:lnTo>
                  <a:lnTo>
                    <a:pt x="5669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2" b="-50672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-66675"/>
              <a:ext cx="566928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55"/>
                </a:lnSpc>
              </a:pPr>
              <a:r>
                <a:rPr lang="en-US" sz="2049">
                  <a:solidFill>
                    <a:srgbClr val="E7EE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Built for schools, clinics &amp; home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754380" y="9601200"/>
            <a:ext cx="4114800" cy="480060"/>
            <a:chOff x="0" y="0"/>
            <a:chExt cx="5486400" cy="640080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5486400" cy="640080"/>
            </a:xfrm>
            <a:custGeom>
              <a:avLst/>
              <a:gdLst/>
              <a:ahLst/>
              <a:cxnLst/>
              <a:rect l="l" t="t" r="r" b="b"/>
              <a:pathLst>
                <a:path w="5486400" h="640080">
                  <a:moveTo>
                    <a:pt x="0" y="0"/>
                  </a:moveTo>
                  <a:lnTo>
                    <a:pt x="5486400" y="0"/>
                  </a:lnTo>
                  <a:lnTo>
                    <a:pt x="5486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14" b="-117014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-38100"/>
              <a:ext cx="54864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50">
                  <a:solidFill>
                    <a:srgbClr val="5B6B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MONOJOG+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7053103" y="9601200"/>
            <a:ext cx="822960" cy="480060"/>
            <a:chOff x="0" y="0"/>
            <a:chExt cx="1097280" cy="640080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109" name="TextBox 109"/>
            <p:cNvSpPr txBox="1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6230143" y="-685800"/>
            <a:ext cx="3017520" cy="3017520"/>
            <a:chOff x="0" y="0"/>
            <a:chExt cx="4023360" cy="4023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23360" cy="4023360"/>
            </a:xfrm>
            <a:custGeom>
              <a:avLst/>
              <a:gdLst/>
              <a:ahLst/>
              <a:cxnLst/>
              <a:rect l="l" t="t" r="r" b="b"/>
              <a:pathLst>
                <a:path w="4023360" h="4023360">
                  <a:moveTo>
                    <a:pt x="0" y="4023360"/>
                  </a:moveTo>
                  <a:lnTo>
                    <a:pt x="2011680" y="0"/>
                  </a:lnTo>
                  <a:lnTo>
                    <a:pt x="4023360" y="4023360"/>
                  </a:lnTo>
                  <a:close/>
                </a:path>
              </a:pathLst>
            </a:custGeom>
            <a:solidFill>
              <a:srgbClr val="1C7293">
                <a:alpha val="784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-822960" y="8366760"/>
            <a:ext cx="2468880" cy="2468880"/>
            <a:chOff x="0" y="0"/>
            <a:chExt cx="3291840" cy="3291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91840" cy="3291840"/>
            </a:xfrm>
            <a:custGeom>
              <a:avLst/>
              <a:gdLst/>
              <a:ahLst/>
              <a:cxnLst/>
              <a:rect l="l" t="t" r="r" b="b"/>
              <a:pathLst>
                <a:path w="3291840" h="3291840">
                  <a:moveTo>
                    <a:pt x="0" y="3291840"/>
                  </a:moveTo>
                  <a:lnTo>
                    <a:pt x="1645920" y="0"/>
                  </a:lnTo>
                  <a:lnTo>
                    <a:pt x="3291840" y="3291840"/>
                  </a:lnTo>
                  <a:close/>
                </a:path>
              </a:pathLst>
            </a:custGeom>
            <a:solidFill>
              <a:srgbClr val="F2994A">
                <a:alpha val="392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54380" y="685800"/>
            <a:ext cx="123444" cy="438912"/>
            <a:chOff x="0" y="0"/>
            <a:chExt cx="164592" cy="5852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92" cy="585216"/>
            </a:xfrm>
            <a:custGeom>
              <a:avLst/>
              <a:gdLst/>
              <a:ahLst/>
              <a:cxnLst/>
              <a:rect l="l" t="t" r="r" b="b"/>
              <a:pathLst>
                <a:path w="164592" h="585216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91440" y="0"/>
                  </a:lnTo>
                  <a:cubicBezTo>
                    <a:pt x="131826" y="0"/>
                    <a:pt x="164592" y="32766"/>
                    <a:pt x="164592" y="73152"/>
                  </a:cubicBezTo>
                  <a:lnTo>
                    <a:pt x="164592" y="512064"/>
                  </a:lnTo>
                  <a:cubicBezTo>
                    <a:pt x="164592" y="552450"/>
                    <a:pt x="131826" y="585216"/>
                    <a:pt x="91440" y="585216"/>
                  </a:cubicBezTo>
                  <a:lnTo>
                    <a:pt x="73152" y="585216"/>
                  </a:lnTo>
                  <a:cubicBezTo>
                    <a:pt x="32766" y="585216"/>
                    <a:pt x="0" y="552450"/>
                    <a:pt x="0" y="5120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28700" y="603504"/>
            <a:ext cx="10972800" cy="548640"/>
            <a:chOff x="0" y="0"/>
            <a:chExt cx="14630400" cy="731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4380" y="1069848"/>
            <a:ext cx="14401800" cy="1165860"/>
            <a:chOff x="0" y="0"/>
            <a:chExt cx="19202400" cy="15544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202400" cy="1554480"/>
            </a:xfrm>
            <a:custGeom>
              <a:avLst/>
              <a:gdLst/>
              <a:ahLst/>
              <a:cxnLst/>
              <a:rect l="l" t="t" r="r" b="b"/>
              <a:pathLst>
                <a:path w="19202400" h="1554480">
                  <a:moveTo>
                    <a:pt x="0" y="0"/>
                  </a:moveTo>
                  <a:lnTo>
                    <a:pt x="19202400" y="0"/>
                  </a:lnTo>
                  <a:lnTo>
                    <a:pt x="19202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697" b="-19069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9202400" cy="1573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 dirty="0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From Signal to Insight: The Live Dashboard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476875" y="2527935"/>
            <a:ext cx="12020550" cy="1555242"/>
            <a:chOff x="0" y="0"/>
            <a:chExt cx="16027400" cy="207365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027400" cy="2073656"/>
            </a:xfrm>
            <a:custGeom>
              <a:avLst/>
              <a:gdLst/>
              <a:ahLst/>
              <a:cxnLst/>
              <a:rect l="l" t="t" r="r" b="b"/>
              <a:pathLst>
                <a:path w="16027400" h="2073656">
                  <a:moveTo>
                    <a:pt x="0" y="185166"/>
                  </a:moveTo>
                  <a:cubicBezTo>
                    <a:pt x="0" y="82931"/>
                    <a:pt x="82931" y="0"/>
                    <a:pt x="185166" y="0"/>
                  </a:cubicBezTo>
                  <a:lnTo>
                    <a:pt x="15842235" y="0"/>
                  </a:lnTo>
                  <a:cubicBezTo>
                    <a:pt x="15944470" y="0"/>
                    <a:pt x="16027400" y="82931"/>
                    <a:pt x="16027400" y="185166"/>
                  </a:cubicBezTo>
                  <a:lnTo>
                    <a:pt x="16027400" y="1888490"/>
                  </a:lnTo>
                  <a:cubicBezTo>
                    <a:pt x="16027400" y="1990725"/>
                    <a:pt x="15944470" y="2073656"/>
                    <a:pt x="15842235" y="2073656"/>
                  </a:cubicBezTo>
                  <a:lnTo>
                    <a:pt x="185166" y="2073656"/>
                  </a:lnTo>
                  <a:cubicBezTo>
                    <a:pt x="82931" y="2073656"/>
                    <a:pt x="0" y="1990725"/>
                    <a:pt x="0" y="188849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D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788152" y="2866644"/>
            <a:ext cx="850392" cy="850392"/>
            <a:chOff x="0" y="0"/>
            <a:chExt cx="1133856" cy="11338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5992244" y="3070736"/>
            <a:ext cx="442208" cy="442208"/>
            <a:chOff x="0" y="0"/>
            <a:chExt cx="589610" cy="589610"/>
          </a:xfrm>
        </p:grpSpPr>
        <p:sp>
          <p:nvSpPr>
            <p:cNvPr id="19" name="Freeform 19" descr="/home/claude/work/icons/activity.png"/>
            <p:cNvSpPr/>
            <p:nvPr/>
          </p:nvSpPr>
          <p:spPr>
            <a:xfrm>
              <a:off x="0" y="0"/>
              <a:ext cx="589661" cy="589661"/>
            </a:xfrm>
            <a:custGeom>
              <a:avLst/>
              <a:gdLst/>
              <a:ahLst/>
              <a:cxnLst/>
              <a:rect l="l" t="t" r="r" b="b"/>
              <a:pathLst>
                <a:path w="589661" h="589661">
                  <a:moveTo>
                    <a:pt x="0" y="0"/>
                  </a:moveTo>
                  <a:lnTo>
                    <a:pt x="589661" y="0"/>
                  </a:lnTo>
                  <a:lnTo>
                    <a:pt x="589661" y="589661"/>
                  </a:lnTo>
                  <a:lnTo>
                    <a:pt x="0" y="589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8" b="8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6926580" y="2702052"/>
            <a:ext cx="6446520" cy="548640"/>
            <a:chOff x="0" y="0"/>
            <a:chExt cx="8595360" cy="7315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595360" cy="731520"/>
            </a:xfrm>
            <a:custGeom>
              <a:avLst/>
              <a:gdLst/>
              <a:ahLst/>
              <a:cxnLst/>
              <a:rect l="l" t="t" r="r" b="b"/>
              <a:pathLst>
                <a:path w="8595360" h="731520">
                  <a:moveTo>
                    <a:pt x="0" y="0"/>
                  </a:moveTo>
                  <a:lnTo>
                    <a:pt x="8595360" y="0"/>
                  </a:lnTo>
                  <a:lnTo>
                    <a:pt x="859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949" b="-178949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859536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Signal &amp; electrode quality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926580" y="3223260"/>
            <a:ext cx="6446520" cy="754380"/>
            <a:chOff x="0" y="0"/>
            <a:chExt cx="8595360" cy="10058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595360" cy="1005840"/>
            </a:xfrm>
            <a:custGeom>
              <a:avLst/>
              <a:gdLst/>
              <a:ahLst/>
              <a:cxnLst/>
              <a:rect l="l" t="t" r="r" b="b"/>
              <a:pathLst>
                <a:path w="8595360" h="1005840">
                  <a:moveTo>
                    <a:pt x="0" y="0"/>
                  </a:moveTo>
                  <a:lnTo>
                    <a:pt x="8595360" y="0"/>
                  </a:lnTo>
                  <a:lnTo>
                    <a:pt x="8595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6508" b="-116508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859536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signal integrity shown to the user at all times.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578840" y="2537460"/>
            <a:ext cx="3703320" cy="1536192"/>
            <a:chOff x="0" y="0"/>
            <a:chExt cx="4937760" cy="204825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937760" cy="2048256"/>
            </a:xfrm>
            <a:custGeom>
              <a:avLst/>
              <a:gdLst/>
              <a:ahLst/>
              <a:cxnLst/>
              <a:rect l="l" t="t" r="r" b="b"/>
              <a:pathLst>
                <a:path w="4937760" h="2048256">
                  <a:moveTo>
                    <a:pt x="0" y="0"/>
                  </a:moveTo>
                  <a:lnTo>
                    <a:pt x="4937760" y="0"/>
                  </a:lnTo>
                  <a:lnTo>
                    <a:pt x="4937760" y="2048256"/>
                  </a:lnTo>
                  <a:lnTo>
                    <a:pt x="0" y="20482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22" r="-3222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4937760" cy="20577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F299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99%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476875" y="4283583"/>
            <a:ext cx="12020550" cy="1555242"/>
            <a:chOff x="0" y="0"/>
            <a:chExt cx="16027400" cy="207365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6027400" cy="2073656"/>
            </a:xfrm>
            <a:custGeom>
              <a:avLst/>
              <a:gdLst/>
              <a:ahLst/>
              <a:cxnLst/>
              <a:rect l="l" t="t" r="r" b="b"/>
              <a:pathLst>
                <a:path w="16027400" h="2073656">
                  <a:moveTo>
                    <a:pt x="0" y="185166"/>
                  </a:moveTo>
                  <a:cubicBezTo>
                    <a:pt x="0" y="82931"/>
                    <a:pt x="82931" y="0"/>
                    <a:pt x="185166" y="0"/>
                  </a:cubicBezTo>
                  <a:lnTo>
                    <a:pt x="15842235" y="0"/>
                  </a:lnTo>
                  <a:cubicBezTo>
                    <a:pt x="15944470" y="0"/>
                    <a:pt x="16027400" y="82931"/>
                    <a:pt x="16027400" y="185166"/>
                  </a:cubicBezTo>
                  <a:lnTo>
                    <a:pt x="16027400" y="1888490"/>
                  </a:lnTo>
                  <a:cubicBezTo>
                    <a:pt x="16027400" y="1990725"/>
                    <a:pt x="15944470" y="2073656"/>
                    <a:pt x="15842235" y="2073656"/>
                  </a:cubicBezTo>
                  <a:lnTo>
                    <a:pt x="185166" y="2073656"/>
                  </a:lnTo>
                  <a:cubicBezTo>
                    <a:pt x="82931" y="2073656"/>
                    <a:pt x="0" y="1990725"/>
                    <a:pt x="0" y="188849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D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5788152" y="4622292"/>
            <a:ext cx="850392" cy="850392"/>
            <a:chOff x="0" y="0"/>
            <a:chExt cx="1133856" cy="113385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5992244" y="4826384"/>
            <a:ext cx="442208" cy="442208"/>
            <a:chOff x="0" y="0"/>
            <a:chExt cx="589610" cy="589610"/>
          </a:xfrm>
        </p:grpSpPr>
        <p:sp>
          <p:nvSpPr>
            <p:cNvPr id="34" name="Freeform 34" descr="/home/claude/work/icons/brain.png"/>
            <p:cNvSpPr/>
            <p:nvPr/>
          </p:nvSpPr>
          <p:spPr>
            <a:xfrm>
              <a:off x="0" y="0"/>
              <a:ext cx="589661" cy="589661"/>
            </a:xfrm>
            <a:custGeom>
              <a:avLst/>
              <a:gdLst/>
              <a:ahLst/>
              <a:cxnLst/>
              <a:rect l="l" t="t" r="r" b="b"/>
              <a:pathLst>
                <a:path w="589661" h="589661">
                  <a:moveTo>
                    <a:pt x="0" y="0"/>
                  </a:moveTo>
                  <a:lnTo>
                    <a:pt x="589661" y="0"/>
                  </a:lnTo>
                  <a:lnTo>
                    <a:pt x="589661" y="589661"/>
                  </a:lnTo>
                  <a:lnTo>
                    <a:pt x="0" y="589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8" b="8"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6926580" y="4457700"/>
            <a:ext cx="6446520" cy="548640"/>
            <a:chOff x="0" y="0"/>
            <a:chExt cx="8595360" cy="73152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595360" cy="731520"/>
            </a:xfrm>
            <a:custGeom>
              <a:avLst/>
              <a:gdLst/>
              <a:ahLst/>
              <a:cxnLst/>
              <a:rect l="l" t="t" r="r" b="b"/>
              <a:pathLst>
                <a:path w="8595360" h="731520">
                  <a:moveTo>
                    <a:pt x="0" y="0"/>
                  </a:moveTo>
                  <a:lnTo>
                    <a:pt x="8595360" y="0"/>
                  </a:lnTo>
                  <a:lnTo>
                    <a:pt x="859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949" b="-178949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859536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Attention / Meditation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926580" y="4978908"/>
            <a:ext cx="6446520" cy="754380"/>
            <a:chOff x="0" y="0"/>
            <a:chExt cx="8595360" cy="100584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595360" cy="1005840"/>
            </a:xfrm>
            <a:custGeom>
              <a:avLst/>
              <a:gdLst/>
              <a:ahLst/>
              <a:cxnLst/>
              <a:rect l="l" t="t" r="r" b="b"/>
              <a:pathLst>
                <a:path w="8595360" h="1005840">
                  <a:moveTo>
                    <a:pt x="0" y="0"/>
                  </a:moveTo>
                  <a:lnTo>
                    <a:pt x="8595360" y="0"/>
                  </a:lnTo>
                  <a:lnTo>
                    <a:pt x="8595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6508" b="-116508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859536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Continuous cognitive metrics computed every session.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578840" y="4293108"/>
            <a:ext cx="3703320" cy="1536192"/>
            <a:chOff x="0" y="0"/>
            <a:chExt cx="4937760" cy="204825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937760" cy="2048256"/>
            </a:xfrm>
            <a:custGeom>
              <a:avLst/>
              <a:gdLst/>
              <a:ahLst/>
              <a:cxnLst/>
              <a:rect l="l" t="t" r="r" b="b"/>
              <a:pathLst>
                <a:path w="4937760" h="2048256">
                  <a:moveTo>
                    <a:pt x="0" y="0"/>
                  </a:moveTo>
                  <a:lnTo>
                    <a:pt x="4937760" y="0"/>
                  </a:lnTo>
                  <a:lnTo>
                    <a:pt x="4937760" y="2048256"/>
                  </a:lnTo>
                  <a:lnTo>
                    <a:pt x="0" y="20482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22" r="-3222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4937760" cy="20577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F299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Live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476875" y="6039231"/>
            <a:ext cx="12020550" cy="1555242"/>
            <a:chOff x="0" y="0"/>
            <a:chExt cx="16027400" cy="207365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6027400" cy="2073656"/>
            </a:xfrm>
            <a:custGeom>
              <a:avLst/>
              <a:gdLst/>
              <a:ahLst/>
              <a:cxnLst/>
              <a:rect l="l" t="t" r="r" b="b"/>
              <a:pathLst>
                <a:path w="16027400" h="2073656">
                  <a:moveTo>
                    <a:pt x="0" y="185166"/>
                  </a:moveTo>
                  <a:cubicBezTo>
                    <a:pt x="0" y="82931"/>
                    <a:pt x="82931" y="0"/>
                    <a:pt x="185166" y="0"/>
                  </a:cubicBezTo>
                  <a:lnTo>
                    <a:pt x="15842235" y="0"/>
                  </a:lnTo>
                  <a:cubicBezTo>
                    <a:pt x="15944470" y="0"/>
                    <a:pt x="16027400" y="82931"/>
                    <a:pt x="16027400" y="185166"/>
                  </a:cubicBezTo>
                  <a:lnTo>
                    <a:pt x="16027400" y="1888490"/>
                  </a:lnTo>
                  <a:cubicBezTo>
                    <a:pt x="16027400" y="1990725"/>
                    <a:pt x="15944470" y="2073656"/>
                    <a:pt x="15842235" y="2073656"/>
                  </a:cubicBezTo>
                  <a:lnTo>
                    <a:pt x="185166" y="2073656"/>
                  </a:lnTo>
                  <a:cubicBezTo>
                    <a:pt x="82931" y="2073656"/>
                    <a:pt x="0" y="1990725"/>
                    <a:pt x="0" y="188849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D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5788152" y="6377940"/>
            <a:ext cx="850392" cy="850392"/>
            <a:chOff x="0" y="0"/>
            <a:chExt cx="1133856" cy="113385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5992244" y="6582032"/>
            <a:ext cx="442208" cy="442208"/>
            <a:chOff x="0" y="0"/>
            <a:chExt cx="589610" cy="589610"/>
          </a:xfrm>
        </p:grpSpPr>
        <p:sp>
          <p:nvSpPr>
            <p:cNvPr id="49" name="Freeform 49" descr="/home/claude/work/icons/chart.png"/>
            <p:cNvSpPr/>
            <p:nvPr/>
          </p:nvSpPr>
          <p:spPr>
            <a:xfrm>
              <a:off x="0" y="0"/>
              <a:ext cx="589661" cy="589661"/>
            </a:xfrm>
            <a:custGeom>
              <a:avLst/>
              <a:gdLst/>
              <a:ahLst/>
              <a:cxnLst/>
              <a:rect l="l" t="t" r="r" b="b"/>
              <a:pathLst>
                <a:path w="589661" h="589661">
                  <a:moveTo>
                    <a:pt x="0" y="0"/>
                  </a:moveTo>
                  <a:lnTo>
                    <a:pt x="589661" y="0"/>
                  </a:lnTo>
                  <a:lnTo>
                    <a:pt x="589661" y="589661"/>
                  </a:lnTo>
                  <a:lnTo>
                    <a:pt x="0" y="589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8" b="8"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>
            <a:off x="6926580" y="6213348"/>
            <a:ext cx="6446520" cy="548640"/>
            <a:chOff x="0" y="0"/>
            <a:chExt cx="8595360" cy="73152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595360" cy="731520"/>
            </a:xfrm>
            <a:custGeom>
              <a:avLst/>
              <a:gdLst/>
              <a:ahLst/>
              <a:cxnLst/>
              <a:rect l="l" t="t" r="r" b="b"/>
              <a:pathLst>
                <a:path w="8595360" h="731520">
                  <a:moveTo>
                    <a:pt x="0" y="0"/>
                  </a:moveTo>
                  <a:lnTo>
                    <a:pt x="8595360" y="0"/>
                  </a:lnTo>
                  <a:lnTo>
                    <a:pt x="859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949" b="-178949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859536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EEG frequency analysis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926580" y="6734556"/>
            <a:ext cx="6446520" cy="754380"/>
            <a:chOff x="0" y="0"/>
            <a:chExt cx="8595360" cy="100584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595360" cy="1005840"/>
            </a:xfrm>
            <a:custGeom>
              <a:avLst/>
              <a:gdLst/>
              <a:ahLst/>
              <a:cxnLst/>
              <a:rect l="l" t="t" r="r" b="b"/>
              <a:pathLst>
                <a:path w="8595360" h="1005840">
                  <a:moveTo>
                    <a:pt x="0" y="0"/>
                  </a:moveTo>
                  <a:lnTo>
                    <a:pt x="8595360" y="0"/>
                  </a:lnTo>
                  <a:lnTo>
                    <a:pt x="8595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6508" b="-116508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859536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Delta, theta, alpha, beta &amp; gamma power breakdown.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3578840" y="6048756"/>
            <a:ext cx="3703320" cy="1536192"/>
            <a:chOff x="0" y="0"/>
            <a:chExt cx="4937760" cy="204825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937760" cy="2048256"/>
            </a:xfrm>
            <a:custGeom>
              <a:avLst/>
              <a:gdLst/>
              <a:ahLst/>
              <a:cxnLst/>
              <a:rect l="l" t="t" r="r" b="b"/>
              <a:pathLst>
                <a:path w="4937760" h="2048256">
                  <a:moveTo>
                    <a:pt x="0" y="0"/>
                  </a:moveTo>
                  <a:lnTo>
                    <a:pt x="4937760" y="0"/>
                  </a:lnTo>
                  <a:lnTo>
                    <a:pt x="4937760" y="2048256"/>
                  </a:lnTo>
                  <a:lnTo>
                    <a:pt x="0" y="20482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22" r="-3222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4937760" cy="20577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F299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 bands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476875" y="7794879"/>
            <a:ext cx="12020550" cy="1555242"/>
            <a:chOff x="0" y="0"/>
            <a:chExt cx="16027400" cy="207365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6027400" cy="2073656"/>
            </a:xfrm>
            <a:custGeom>
              <a:avLst/>
              <a:gdLst/>
              <a:ahLst/>
              <a:cxnLst/>
              <a:rect l="l" t="t" r="r" b="b"/>
              <a:pathLst>
                <a:path w="16027400" h="2073656">
                  <a:moveTo>
                    <a:pt x="0" y="185166"/>
                  </a:moveTo>
                  <a:cubicBezTo>
                    <a:pt x="0" y="82931"/>
                    <a:pt x="82931" y="0"/>
                    <a:pt x="185166" y="0"/>
                  </a:cubicBezTo>
                  <a:lnTo>
                    <a:pt x="15842235" y="0"/>
                  </a:lnTo>
                  <a:cubicBezTo>
                    <a:pt x="15944470" y="0"/>
                    <a:pt x="16027400" y="82931"/>
                    <a:pt x="16027400" y="185166"/>
                  </a:cubicBezTo>
                  <a:lnTo>
                    <a:pt x="16027400" y="1888490"/>
                  </a:lnTo>
                  <a:cubicBezTo>
                    <a:pt x="16027400" y="1990725"/>
                    <a:pt x="15944470" y="2073656"/>
                    <a:pt x="15842235" y="2073656"/>
                  </a:cubicBezTo>
                  <a:lnTo>
                    <a:pt x="185166" y="2073656"/>
                  </a:lnTo>
                  <a:cubicBezTo>
                    <a:pt x="82931" y="2073656"/>
                    <a:pt x="0" y="1990725"/>
                    <a:pt x="0" y="188849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D"/>
              </a:solidFill>
              <a:prstDash val="solid"/>
              <a:miter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5788152" y="8133588"/>
            <a:ext cx="850392" cy="850392"/>
            <a:chOff x="0" y="0"/>
            <a:chExt cx="1133856" cy="1133856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5992244" y="8337680"/>
            <a:ext cx="442208" cy="442208"/>
            <a:chOff x="0" y="0"/>
            <a:chExt cx="589610" cy="589610"/>
          </a:xfrm>
        </p:grpSpPr>
        <p:sp>
          <p:nvSpPr>
            <p:cNvPr id="64" name="Freeform 64" descr="/home/claude/work/icons/heart.png"/>
            <p:cNvSpPr/>
            <p:nvPr/>
          </p:nvSpPr>
          <p:spPr>
            <a:xfrm>
              <a:off x="0" y="0"/>
              <a:ext cx="589661" cy="589661"/>
            </a:xfrm>
            <a:custGeom>
              <a:avLst/>
              <a:gdLst/>
              <a:ahLst/>
              <a:cxnLst/>
              <a:rect l="l" t="t" r="r" b="b"/>
              <a:pathLst>
                <a:path w="589661" h="589661">
                  <a:moveTo>
                    <a:pt x="0" y="0"/>
                  </a:moveTo>
                  <a:lnTo>
                    <a:pt x="589661" y="0"/>
                  </a:lnTo>
                  <a:lnTo>
                    <a:pt x="589661" y="589661"/>
                  </a:lnTo>
                  <a:lnTo>
                    <a:pt x="0" y="589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8" b="8"/>
              </a:stretch>
            </a:blipFill>
          </p:spPr>
        </p:sp>
      </p:grpSp>
      <p:grpSp>
        <p:nvGrpSpPr>
          <p:cNvPr id="65" name="Group 65"/>
          <p:cNvGrpSpPr/>
          <p:nvPr/>
        </p:nvGrpSpPr>
        <p:grpSpPr>
          <a:xfrm>
            <a:off x="6926580" y="7968996"/>
            <a:ext cx="6446520" cy="548640"/>
            <a:chOff x="0" y="0"/>
            <a:chExt cx="8595360" cy="73152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8595360" cy="731520"/>
            </a:xfrm>
            <a:custGeom>
              <a:avLst/>
              <a:gdLst/>
              <a:ahLst/>
              <a:cxnLst/>
              <a:rect l="l" t="t" r="r" b="b"/>
              <a:pathLst>
                <a:path w="8595360" h="731520">
                  <a:moveTo>
                    <a:pt x="0" y="0"/>
                  </a:moveTo>
                  <a:lnTo>
                    <a:pt x="8595360" y="0"/>
                  </a:lnTo>
                  <a:lnTo>
                    <a:pt x="859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949" b="-178949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47625"/>
              <a:ext cx="859536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Emotional state tracking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926580" y="8490204"/>
            <a:ext cx="6446520" cy="754380"/>
            <a:chOff x="0" y="0"/>
            <a:chExt cx="8595360" cy="100584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8595360" cy="1005840"/>
            </a:xfrm>
            <a:custGeom>
              <a:avLst/>
              <a:gdLst/>
              <a:ahLst/>
              <a:cxnLst/>
              <a:rect l="l" t="t" r="r" b="b"/>
              <a:pathLst>
                <a:path w="8595360" h="1005840">
                  <a:moveTo>
                    <a:pt x="0" y="0"/>
                  </a:moveTo>
                  <a:lnTo>
                    <a:pt x="8595360" y="0"/>
                  </a:lnTo>
                  <a:lnTo>
                    <a:pt x="8595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6508" b="-116508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859536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Happiness, excitement, calmness, stress &amp; focus.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3578840" y="7804404"/>
            <a:ext cx="3703320" cy="1536192"/>
            <a:chOff x="0" y="0"/>
            <a:chExt cx="4937760" cy="2048256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937760" cy="2048256"/>
            </a:xfrm>
            <a:custGeom>
              <a:avLst/>
              <a:gdLst/>
              <a:ahLst/>
              <a:cxnLst/>
              <a:rect l="l" t="t" r="r" b="b"/>
              <a:pathLst>
                <a:path w="4937760" h="2048256">
                  <a:moveTo>
                    <a:pt x="0" y="0"/>
                  </a:moveTo>
                  <a:lnTo>
                    <a:pt x="4937760" y="0"/>
                  </a:lnTo>
                  <a:lnTo>
                    <a:pt x="4937760" y="2048256"/>
                  </a:lnTo>
                  <a:lnTo>
                    <a:pt x="0" y="20482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22" r="-3222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9525"/>
              <a:ext cx="4937760" cy="20577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F299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 states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54380" y="9601200"/>
            <a:ext cx="4114800" cy="480060"/>
            <a:chOff x="0" y="0"/>
            <a:chExt cx="5486400" cy="64008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5486400" cy="640080"/>
            </a:xfrm>
            <a:custGeom>
              <a:avLst/>
              <a:gdLst/>
              <a:ahLst/>
              <a:cxnLst/>
              <a:rect l="l" t="t" r="r" b="b"/>
              <a:pathLst>
                <a:path w="5486400" h="640080">
                  <a:moveTo>
                    <a:pt x="0" y="0"/>
                  </a:moveTo>
                  <a:lnTo>
                    <a:pt x="5486400" y="0"/>
                  </a:lnTo>
                  <a:lnTo>
                    <a:pt x="5486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14" b="-117014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54864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50">
                  <a:solidFill>
                    <a:srgbClr val="5B6B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MONOJOG+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7053103" y="9601200"/>
            <a:ext cx="822960" cy="480060"/>
            <a:chOff x="0" y="0"/>
            <a:chExt cx="1097280" cy="64008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sp>
        <p:nvSpPr>
          <p:cNvPr id="80" name="Freeform 80"/>
          <p:cNvSpPr/>
          <p:nvPr/>
        </p:nvSpPr>
        <p:spPr>
          <a:xfrm>
            <a:off x="754380" y="2527935"/>
            <a:ext cx="4324695" cy="2035310"/>
          </a:xfrm>
          <a:custGeom>
            <a:avLst/>
            <a:gdLst/>
            <a:ahLst/>
            <a:cxnLst/>
            <a:rect l="l" t="t" r="r" b="b"/>
            <a:pathLst>
              <a:path w="4324695" h="2035310">
                <a:moveTo>
                  <a:pt x="0" y="0"/>
                </a:moveTo>
                <a:lnTo>
                  <a:pt x="4324695" y="0"/>
                </a:lnTo>
                <a:lnTo>
                  <a:pt x="4324695" y="2035310"/>
                </a:lnTo>
                <a:lnTo>
                  <a:pt x="0" y="20353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1" name="Freeform 81"/>
          <p:cNvSpPr/>
          <p:nvPr/>
        </p:nvSpPr>
        <p:spPr>
          <a:xfrm>
            <a:off x="754035" y="4817034"/>
            <a:ext cx="4325040" cy="2043581"/>
          </a:xfrm>
          <a:custGeom>
            <a:avLst/>
            <a:gdLst/>
            <a:ahLst/>
            <a:cxnLst/>
            <a:rect l="l" t="t" r="r" b="b"/>
            <a:pathLst>
              <a:path w="4325040" h="2043581">
                <a:moveTo>
                  <a:pt x="0" y="0"/>
                </a:moveTo>
                <a:lnTo>
                  <a:pt x="4325040" y="0"/>
                </a:lnTo>
                <a:lnTo>
                  <a:pt x="4325040" y="2043582"/>
                </a:lnTo>
                <a:lnTo>
                  <a:pt x="0" y="20435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82" name="Freeform 82"/>
          <p:cNvSpPr/>
          <p:nvPr/>
        </p:nvSpPr>
        <p:spPr>
          <a:xfrm>
            <a:off x="763938" y="7111746"/>
            <a:ext cx="4315137" cy="2036205"/>
          </a:xfrm>
          <a:custGeom>
            <a:avLst/>
            <a:gdLst/>
            <a:ahLst/>
            <a:cxnLst/>
            <a:rect l="l" t="t" r="r" b="b"/>
            <a:pathLst>
              <a:path w="4315137" h="2036205">
                <a:moveTo>
                  <a:pt x="0" y="0"/>
                </a:moveTo>
                <a:lnTo>
                  <a:pt x="4315137" y="0"/>
                </a:lnTo>
                <a:lnTo>
                  <a:pt x="4315137" y="2036205"/>
                </a:lnTo>
                <a:lnTo>
                  <a:pt x="0" y="20362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380" y="685800"/>
            <a:ext cx="123444" cy="438912"/>
            <a:chOff x="0" y="0"/>
            <a:chExt cx="164592" cy="5852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" cy="585216"/>
            </a:xfrm>
            <a:custGeom>
              <a:avLst/>
              <a:gdLst/>
              <a:ahLst/>
              <a:cxnLst/>
              <a:rect l="l" t="t" r="r" b="b"/>
              <a:pathLst>
                <a:path w="164592" h="585216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91440" y="0"/>
                  </a:lnTo>
                  <a:cubicBezTo>
                    <a:pt x="131826" y="0"/>
                    <a:pt x="164592" y="32766"/>
                    <a:pt x="164592" y="73152"/>
                  </a:cubicBezTo>
                  <a:lnTo>
                    <a:pt x="164592" y="512064"/>
                  </a:lnTo>
                  <a:cubicBezTo>
                    <a:pt x="164592" y="552450"/>
                    <a:pt x="131826" y="585216"/>
                    <a:pt x="91440" y="585216"/>
                  </a:cubicBezTo>
                  <a:lnTo>
                    <a:pt x="73152" y="585216"/>
                  </a:lnTo>
                  <a:cubicBezTo>
                    <a:pt x="32766" y="585216"/>
                    <a:pt x="0" y="552450"/>
                    <a:pt x="0" y="512064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16230143" y="-685800"/>
            <a:ext cx="3017520" cy="3017520"/>
            <a:chOff x="0" y="0"/>
            <a:chExt cx="4023360" cy="40233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23360" cy="4023360"/>
            </a:xfrm>
            <a:custGeom>
              <a:avLst/>
              <a:gdLst/>
              <a:ahLst/>
              <a:cxnLst/>
              <a:rect l="l" t="t" r="r" b="b"/>
              <a:pathLst>
                <a:path w="4023360" h="4023360">
                  <a:moveTo>
                    <a:pt x="0" y="4023360"/>
                  </a:moveTo>
                  <a:lnTo>
                    <a:pt x="2011680" y="0"/>
                  </a:lnTo>
                  <a:lnTo>
                    <a:pt x="4023360" y="4023360"/>
                  </a:lnTo>
                  <a:close/>
                </a:path>
              </a:pathLst>
            </a:custGeom>
            <a:solidFill>
              <a:srgbClr val="1C7293">
                <a:alpha val="784"/>
              </a:srgbClr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274229" y="2401815"/>
            <a:ext cx="6320887" cy="2741685"/>
          </a:xfrm>
          <a:custGeom>
            <a:avLst/>
            <a:gdLst/>
            <a:ahLst/>
            <a:cxnLst/>
            <a:rect l="l" t="t" r="r" b="b"/>
            <a:pathLst>
              <a:path w="6320887" h="2741685">
                <a:moveTo>
                  <a:pt x="0" y="0"/>
                </a:moveTo>
                <a:lnTo>
                  <a:pt x="6320887" y="0"/>
                </a:lnTo>
                <a:lnTo>
                  <a:pt x="6320887" y="2741685"/>
                </a:lnTo>
                <a:lnTo>
                  <a:pt x="0" y="27416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7053103" y="9601200"/>
            <a:ext cx="822960" cy="480060"/>
            <a:chOff x="0" y="0"/>
            <a:chExt cx="1097280" cy="6400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1274229" y="6331652"/>
            <a:ext cx="6293960" cy="2831500"/>
          </a:xfrm>
          <a:custGeom>
            <a:avLst/>
            <a:gdLst/>
            <a:ahLst/>
            <a:cxnLst/>
            <a:rect l="l" t="t" r="r" b="b"/>
            <a:pathLst>
              <a:path w="6293960" h="2831500">
                <a:moveTo>
                  <a:pt x="0" y="0"/>
                </a:moveTo>
                <a:lnTo>
                  <a:pt x="6293960" y="0"/>
                </a:lnTo>
                <a:lnTo>
                  <a:pt x="6293960" y="2831500"/>
                </a:lnTo>
                <a:lnTo>
                  <a:pt x="0" y="2831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369600" y="3182755"/>
            <a:ext cx="7374696" cy="4481860"/>
          </a:xfrm>
          <a:custGeom>
            <a:avLst/>
            <a:gdLst/>
            <a:ahLst/>
            <a:cxnLst/>
            <a:rect l="l" t="t" r="r" b="b"/>
            <a:pathLst>
              <a:path w="7374696" h="4481860">
                <a:moveTo>
                  <a:pt x="0" y="0"/>
                </a:moveTo>
                <a:lnTo>
                  <a:pt x="7374697" y="0"/>
                </a:lnTo>
                <a:lnTo>
                  <a:pt x="7374697" y="4481859"/>
                </a:lnTo>
                <a:lnTo>
                  <a:pt x="0" y="44818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54380" y="1238863"/>
            <a:ext cx="8944570" cy="755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48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Turning Play Into Better Attention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619125"/>
            <a:ext cx="2662833" cy="346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6"/>
              </a:lnSpc>
              <a:spcBef>
                <a:spcPct val="0"/>
              </a:spcBef>
            </a:pPr>
            <a:r>
              <a:rPr lang="en-US" sz="1880">
                <a:solidFill>
                  <a:srgbClr val="F2994A"/>
                </a:solidFill>
                <a:latin typeface="Calibri (MS)"/>
                <a:ea typeface="Calibri (MS)"/>
                <a:cs typeface="Calibri (MS)"/>
                <a:sym typeface="Calibri (MS)"/>
              </a:rPr>
              <a:t>COMPARATIVE ADVANTAGE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0509" y="5347485"/>
            <a:ext cx="6566416" cy="742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2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Interactive games help users improve attention</a:t>
            </a:r>
          </a:p>
          <a:p>
            <a:pPr algn="l">
              <a:lnSpc>
                <a:spcPts val="2822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and concentration while staying calm, focused, and engaged.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1213" y="9381820"/>
            <a:ext cx="6655713" cy="372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5"/>
              </a:lnSpc>
              <a:spcBef>
                <a:spcPct val="0"/>
              </a:spcBef>
            </a:pPr>
            <a:r>
              <a:rPr lang="en-US" sz="20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Post-game EEG captures changes in attention and mental state.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948619" y="7847940"/>
            <a:ext cx="8383071" cy="38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9"/>
              </a:lnSpc>
              <a:spcBef>
                <a:spcPct val="0"/>
              </a:spcBef>
            </a:pPr>
            <a:r>
              <a:rPr lang="en-US" sz="21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Comparing pre- and post-game attention, focus, stress, and calmness levels.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488933" y="2414085"/>
            <a:ext cx="47625" cy="7352090"/>
            <a:chOff x="0" y="0"/>
            <a:chExt cx="3791" cy="58521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791" cy="585216"/>
            </a:xfrm>
            <a:custGeom>
              <a:avLst/>
              <a:gdLst/>
              <a:ahLst/>
              <a:cxnLst/>
              <a:rect l="l" t="t" r="r" b="b"/>
              <a:pathLst>
                <a:path w="3791" h="585216">
                  <a:moveTo>
                    <a:pt x="0" y="73152"/>
                  </a:moveTo>
                  <a:cubicBezTo>
                    <a:pt x="0" y="32766"/>
                    <a:pt x="755" y="0"/>
                    <a:pt x="1685" y="0"/>
                  </a:cubicBezTo>
                  <a:lnTo>
                    <a:pt x="2106" y="0"/>
                  </a:lnTo>
                  <a:cubicBezTo>
                    <a:pt x="3036" y="0"/>
                    <a:pt x="3791" y="32766"/>
                    <a:pt x="3791" y="73152"/>
                  </a:cubicBezTo>
                  <a:lnTo>
                    <a:pt x="3791" y="512064"/>
                  </a:lnTo>
                  <a:cubicBezTo>
                    <a:pt x="3791" y="552450"/>
                    <a:pt x="3036" y="585216"/>
                    <a:pt x="2106" y="585216"/>
                  </a:cubicBezTo>
                  <a:lnTo>
                    <a:pt x="1685" y="585216"/>
                  </a:lnTo>
                  <a:cubicBezTo>
                    <a:pt x="755" y="585216"/>
                    <a:pt x="0" y="552450"/>
                    <a:pt x="0" y="512064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5770" y="3465512"/>
            <a:ext cx="15247762" cy="3900502"/>
          </a:xfrm>
          <a:custGeom>
            <a:avLst/>
            <a:gdLst/>
            <a:ahLst/>
            <a:cxnLst/>
            <a:rect l="l" t="t" r="r" b="b"/>
            <a:pathLst>
              <a:path w="15247762" h="3900502">
                <a:moveTo>
                  <a:pt x="0" y="0"/>
                </a:moveTo>
                <a:lnTo>
                  <a:pt x="15247762" y="0"/>
                </a:lnTo>
                <a:lnTo>
                  <a:pt x="15247762" y="3900502"/>
                </a:lnTo>
                <a:lnTo>
                  <a:pt x="0" y="39005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632" b="-1362"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16230143" y="-685800"/>
            <a:ext cx="3017520" cy="3017520"/>
            <a:chOff x="0" y="0"/>
            <a:chExt cx="4023360" cy="40233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23360" cy="4023360"/>
            </a:xfrm>
            <a:custGeom>
              <a:avLst/>
              <a:gdLst/>
              <a:ahLst/>
              <a:cxnLst/>
              <a:rect l="l" t="t" r="r" b="b"/>
              <a:pathLst>
                <a:path w="4023360" h="4023360">
                  <a:moveTo>
                    <a:pt x="0" y="4023360"/>
                  </a:moveTo>
                  <a:lnTo>
                    <a:pt x="2011680" y="0"/>
                  </a:lnTo>
                  <a:lnTo>
                    <a:pt x="4023360" y="4023360"/>
                  </a:lnTo>
                  <a:close/>
                </a:path>
              </a:pathLst>
            </a:custGeom>
            <a:solidFill>
              <a:srgbClr val="1C7293">
                <a:alpha val="784"/>
              </a:srgbClr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754380" y="1345494"/>
            <a:ext cx="5772864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Data Storage &amp; Export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34596" y="7677852"/>
            <a:ext cx="5650111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Collected EEG and Attention Data Stored in CSV/Excel Format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54380" y="685800"/>
            <a:ext cx="123444" cy="438912"/>
            <a:chOff x="0" y="0"/>
            <a:chExt cx="164592" cy="5852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4592" cy="585216"/>
            </a:xfrm>
            <a:custGeom>
              <a:avLst/>
              <a:gdLst/>
              <a:ahLst/>
              <a:cxnLst/>
              <a:rect l="l" t="t" r="r" b="b"/>
              <a:pathLst>
                <a:path w="164592" h="585216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91440" y="0"/>
                  </a:lnTo>
                  <a:cubicBezTo>
                    <a:pt x="131826" y="0"/>
                    <a:pt x="164592" y="32766"/>
                    <a:pt x="164592" y="73152"/>
                  </a:cubicBezTo>
                  <a:lnTo>
                    <a:pt x="164592" y="512064"/>
                  </a:lnTo>
                  <a:cubicBezTo>
                    <a:pt x="164592" y="552450"/>
                    <a:pt x="131826" y="585216"/>
                    <a:pt x="91440" y="585216"/>
                  </a:cubicBezTo>
                  <a:lnTo>
                    <a:pt x="73152" y="585216"/>
                  </a:lnTo>
                  <a:cubicBezTo>
                    <a:pt x="32766" y="585216"/>
                    <a:pt x="0" y="552450"/>
                    <a:pt x="0" y="512064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028700" y="647700"/>
            <a:ext cx="1945243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6"/>
              </a:lnSpc>
              <a:spcBef>
                <a:spcPct val="0"/>
              </a:spcBef>
            </a:pPr>
            <a:r>
              <a:rPr lang="en-US" sz="1880">
                <a:solidFill>
                  <a:srgbClr val="F2994A"/>
                </a:solidFill>
                <a:latin typeface="Calibri (MS)"/>
                <a:ea typeface="Calibri (MS)"/>
                <a:cs typeface="Calibri (MS)"/>
                <a:sym typeface="Calibri (MS)"/>
              </a:rPr>
              <a:t>STORAGE &amp; EXPORT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7053103" y="9601200"/>
            <a:ext cx="822960" cy="480060"/>
            <a:chOff x="0" y="0"/>
            <a:chExt cx="109728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6230143" y="-685800"/>
            <a:ext cx="3017520" cy="3017520"/>
            <a:chOff x="0" y="0"/>
            <a:chExt cx="4023360" cy="4023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23360" cy="4023360"/>
            </a:xfrm>
            <a:custGeom>
              <a:avLst/>
              <a:gdLst/>
              <a:ahLst/>
              <a:cxnLst/>
              <a:rect l="l" t="t" r="r" b="b"/>
              <a:pathLst>
                <a:path w="4023360" h="4023360">
                  <a:moveTo>
                    <a:pt x="0" y="4023360"/>
                  </a:moveTo>
                  <a:lnTo>
                    <a:pt x="2011680" y="0"/>
                  </a:lnTo>
                  <a:lnTo>
                    <a:pt x="4023360" y="4023360"/>
                  </a:lnTo>
                  <a:close/>
                </a:path>
              </a:pathLst>
            </a:custGeom>
            <a:solidFill>
              <a:srgbClr val="1C7293">
                <a:alpha val="784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-822960" y="8366760"/>
            <a:ext cx="2468880" cy="2468880"/>
            <a:chOff x="0" y="0"/>
            <a:chExt cx="3291840" cy="3291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91840" cy="3291840"/>
            </a:xfrm>
            <a:custGeom>
              <a:avLst/>
              <a:gdLst/>
              <a:ahLst/>
              <a:cxnLst/>
              <a:rect l="l" t="t" r="r" b="b"/>
              <a:pathLst>
                <a:path w="3291840" h="3291840">
                  <a:moveTo>
                    <a:pt x="0" y="3291840"/>
                  </a:moveTo>
                  <a:lnTo>
                    <a:pt x="1645920" y="0"/>
                  </a:lnTo>
                  <a:lnTo>
                    <a:pt x="3291840" y="3291840"/>
                  </a:lnTo>
                  <a:close/>
                </a:path>
              </a:pathLst>
            </a:custGeom>
            <a:solidFill>
              <a:srgbClr val="F2994A">
                <a:alpha val="392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54380" y="685800"/>
            <a:ext cx="123444" cy="438912"/>
            <a:chOff x="0" y="0"/>
            <a:chExt cx="164592" cy="5852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92" cy="585216"/>
            </a:xfrm>
            <a:custGeom>
              <a:avLst/>
              <a:gdLst/>
              <a:ahLst/>
              <a:cxnLst/>
              <a:rect l="l" t="t" r="r" b="b"/>
              <a:pathLst>
                <a:path w="164592" h="585216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91440" y="0"/>
                  </a:lnTo>
                  <a:cubicBezTo>
                    <a:pt x="131826" y="0"/>
                    <a:pt x="164592" y="32766"/>
                    <a:pt x="164592" y="73152"/>
                  </a:cubicBezTo>
                  <a:lnTo>
                    <a:pt x="164592" y="512064"/>
                  </a:lnTo>
                  <a:cubicBezTo>
                    <a:pt x="164592" y="552450"/>
                    <a:pt x="131826" y="585216"/>
                    <a:pt x="91440" y="585216"/>
                  </a:cubicBezTo>
                  <a:lnTo>
                    <a:pt x="73152" y="585216"/>
                  </a:lnTo>
                  <a:cubicBezTo>
                    <a:pt x="32766" y="585216"/>
                    <a:pt x="0" y="552450"/>
                    <a:pt x="0" y="512064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28700" y="603504"/>
            <a:ext cx="10972800" cy="548640"/>
            <a:chOff x="0" y="0"/>
            <a:chExt cx="14630400" cy="731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 spc="300">
                  <a:solidFill>
                    <a:srgbClr val="F299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DEMONSTRATION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4380" y="1069848"/>
            <a:ext cx="14401800" cy="1165860"/>
            <a:chOff x="0" y="0"/>
            <a:chExt cx="19202400" cy="15544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202400" cy="1554480"/>
            </a:xfrm>
            <a:custGeom>
              <a:avLst/>
              <a:gdLst/>
              <a:ahLst/>
              <a:cxnLst/>
              <a:rect l="l" t="t" r="r" b="b"/>
              <a:pathLst>
                <a:path w="19202400" h="1554480">
                  <a:moveTo>
                    <a:pt x="0" y="0"/>
                  </a:moveTo>
                  <a:lnTo>
                    <a:pt x="19202400" y="0"/>
                  </a:lnTo>
                  <a:lnTo>
                    <a:pt x="19202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697" b="-19069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9202400" cy="1573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Tested &amp; Demonstrated on the Ground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4380" y="2327477"/>
            <a:ext cx="15810918" cy="1282498"/>
            <a:chOff x="0" y="0"/>
            <a:chExt cx="21081223" cy="170999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081223" cy="1709998"/>
            </a:xfrm>
            <a:custGeom>
              <a:avLst/>
              <a:gdLst/>
              <a:ahLst/>
              <a:cxnLst/>
              <a:rect l="l" t="t" r="r" b="b"/>
              <a:pathLst>
                <a:path w="21081223" h="1709998">
                  <a:moveTo>
                    <a:pt x="0" y="0"/>
                  </a:moveTo>
                  <a:lnTo>
                    <a:pt x="21081223" y="0"/>
                  </a:lnTo>
                  <a:lnTo>
                    <a:pt x="21081223" y="1709998"/>
                  </a:lnTo>
                  <a:lnTo>
                    <a:pt x="0" y="17099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4127" r="-5835" b="-194338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14300"/>
              <a:ext cx="21081223" cy="18242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4"/>
                </a:lnSpc>
              </a:pPr>
              <a:r>
                <a:rPr lang="en-US" sz="2249">
                  <a:solidFill>
                    <a:srgbClr val="1A22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MONOJOG+ is a working prototype that has already been worn and tested by real users at national innovation exhibitions. Today’s live demo follows the same flow: fit the headband, calibrate signal quality, play an attention-adaptive game, and monitor the results on the live dashboard.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54380" y="3771900"/>
            <a:ext cx="3497580" cy="4869180"/>
            <a:chOff x="0" y="0"/>
            <a:chExt cx="4663440" cy="6492240"/>
          </a:xfrm>
        </p:grpSpPr>
        <p:sp>
          <p:nvSpPr>
            <p:cNvPr id="18" name="Freeform 18" descr="/home/claude/work/demo_man.png"/>
            <p:cNvSpPr/>
            <p:nvPr/>
          </p:nvSpPr>
          <p:spPr>
            <a:xfrm>
              <a:off x="0" y="0"/>
              <a:ext cx="4663440" cy="6492240"/>
            </a:xfrm>
            <a:custGeom>
              <a:avLst/>
              <a:gdLst/>
              <a:ahLst/>
              <a:cxnLst/>
              <a:rect l="l" t="t" r="r" b="b"/>
              <a:pathLst>
                <a:path w="4663440" h="6492240">
                  <a:moveTo>
                    <a:pt x="0" y="0"/>
                  </a:moveTo>
                  <a:lnTo>
                    <a:pt x="4663440" y="0"/>
                  </a:lnTo>
                  <a:lnTo>
                    <a:pt x="4663440" y="6492240"/>
                  </a:lnTo>
                  <a:lnTo>
                    <a:pt x="0" y="6492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4834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754380" y="3771900"/>
            <a:ext cx="3497580" cy="27432"/>
            <a:chOff x="0" y="0"/>
            <a:chExt cx="4663440" cy="3657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663440" cy="36576"/>
            </a:xfrm>
            <a:custGeom>
              <a:avLst/>
              <a:gdLst/>
              <a:ahLst/>
              <a:cxnLst/>
              <a:rect l="l" t="t" r="r" b="b"/>
              <a:pathLst>
                <a:path w="4663440" h="36576">
                  <a:moveTo>
                    <a:pt x="0" y="6096"/>
                  </a:moveTo>
                  <a:cubicBezTo>
                    <a:pt x="0" y="2667"/>
                    <a:pt x="2667" y="0"/>
                    <a:pt x="6096" y="0"/>
                  </a:cubicBezTo>
                  <a:lnTo>
                    <a:pt x="4657344" y="0"/>
                  </a:lnTo>
                  <a:cubicBezTo>
                    <a:pt x="4660773" y="0"/>
                    <a:pt x="4663440" y="2667"/>
                    <a:pt x="4663440" y="6096"/>
                  </a:cubicBezTo>
                  <a:lnTo>
                    <a:pt x="4663440" y="30480"/>
                  </a:lnTo>
                  <a:cubicBezTo>
                    <a:pt x="4663440" y="33909"/>
                    <a:pt x="4660773" y="36576"/>
                    <a:pt x="4657344" y="36576"/>
                  </a:cubicBezTo>
                  <a:lnTo>
                    <a:pt x="6096" y="36576"/>
                  </a:lnTo>
                  <a:cubicBezTo>
                    <a:pt x="2667" y="36576"/>
                    <a:pt x="0" y="33909"/>
                    <a:pt x="0" y="30480"/>
                  </a:cubicBezTo>
                  <a:close/>
                </a:path>
              </a:pathLst>
            </a:custGeom>
            <a:solidFill>
              <a:srgbClr val="E3E9ED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754380" y="8750808"/>
            <a:ext cx="3497580" cy="685800"/>
            <a:chOff x="0" y="0"/>
            <a:chExt cx="4663440" cy="914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663440" cy="914400"/>
            </a:xfrm>
            <a:custGeom>
              <a:avLst/>
              <a:gdLst/>
              <a:ahLst/>
              <a:cxnLst/>
              <a:rect l="l" t="t" r="r" b="b"/>
              <a:pathLst>
                <a:path w="4663440" h="914400">
                  <a:moveTo>
                    <a:pt x="0" y="0"/>
                  </a:moveTo>
                  <a:lnTo>
                    <a:pt x="4663440" y="0"/>
                  </a:lnTo>
                  <a:lnTo>
                    <a:pt x="4663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373" b="-49373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466344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2"/>
                </a:lnSpc>
              </a:pPr>
              <a:r>
                <a:rPr lang="en-US" sz="1774" i="1">
                  <a:solidFill>
                    <a:srgbClr val="5B6B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Fit &amp; calibrate the headband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89405" y="3799332"/>
            <a:ext cx="3332988" cy="4869180"/>
            <a:chOff x="0" y="0"/>
            <a:chExt cx="4443984" cy="6492240"/>
          </a:xfrm>
        </p:grpSpPr>
        <p:sp>
          <p:nvSpPr>
            <p:cNvPr id="25" name="Freeform 25" descr="/home/claude/work/demo_student.png"/>
            <p:cNvSpPr/>
            <p:nvPr/>
          </p:nvSpPr>
          <p:spPr>
            <a:xfrm>
              <a:off x="0" y="0"/>
              <a:ext cx="4443984" cy="6492240"/>
            </a:xfrm>
            <a:custGeom>
              <a:avLst/>
              <a:gdLst/>
              <a:ahLst/>
              <a:cxnLst/>
              <a:rect l="l" t="t" r="r" b="b"/>
              <a:pathLst>
                <a:path w="4443984" h="6492240">
                  <a:moveTo>
                    <a:pt x="0" y="0"/>
                  </a:moveTo>
                  <a:lnTo>
                    <a:pt x="4443984" y="0"/>
                  </a:lnTo>
                  <a:lnTo>
                    <a:pt x="4443984" y="6492240"/>
                  </a:lnTo>
                  <a:lnTo>
                    <a:pt x="0" y="6492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999" b="-8798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4498848" y="3771900"/>
            <a:ext cx="3086100" cy="27432"/>
            <a:chOff x="0" y="0"/>
            <a:chExt cx="4114800" cy="3657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114800" cy="36576"/>
            </a:xfrm>
            <a:custGeom>
              <a:avLst/>
              <a:gdLst/>
              <a:ahLst/>
              <a:cxnLst/>
              <a:rect l="l" t="t" r="r" b="b"/>
              <a:pathLst>
                <a:path w="4114800" h="36576">
                  <a:moveTo>
                    <a:pt x="0" y="6096"/>
                  </a:moveTo>
                  <a:cubicBezTo>
                    <a:pt x="0" y="2667"/>
                    <a:pt x="2667" y="0"/>
                    <a:pt x="6096" y="0"/>
                  </a:cubicBezTo>
                  <a:lnTo>
                    <a:pt x="4108704" y="0"/>
                  </a:lnTo>
                  <a:cubicBezTo>
                    <a:pt x="4112133" y="0"/>
                    <a:pt x="4114800" y="2667"/>
                    <a:pt x="4114800" y="6096"/>
                  </a:cubicBezTo>
                  <a:lnTo>
                    <a:pt x="4114800" y="30480"/>
                  </a:lnTo>
                  <a:cubicBezTo>
                    <a:pt x="4114800" y="33909"/>
                    <a:pt x="4112133" y="36576"/>
                    <a:pt x="4108704" y="36576"/>
                  </a:cubicBezTo>
                  <a:lnTo>
                    <a:pt x="6096" y="36576"/>
                  </a:lnTo>
                  <a:cubicBezTo>
                    <a:pt x="2667" y="36576"/>
                    <a:pt x="0" y="33909"/>
                    <a:pt x="0" y="30480"/>
                  </a:cubicBezTo>
                  <a:close/>
                </a:path>
              </a:pathLst>
            </a:custGeom>
            <a:solidFill>
              <a:srgbClr val="E3E9ED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4786884" y="8750808"/>
            <a:ext cx="3456432" cy="685800"/>
            <a:chOff x="0" y="0"/>
            <a:chExt cx="4608576" cy="914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608576" cy="914400"/>
            </a:xfrm>
            <a:custGeom>
              <a:avLst/>
              <a:gdLst/>
              <a:ahLst/>
              <a:cxnLst/>
              <a:rect l="l" t="t" r="r" b="b"/>
              <a:pathLst>
                <a:path w="4608576" h="914400">
                  <a:moveTo>
                    <a:pt x="0" y="0"/>
                  </a:moveTo>
                  <a:lnTo>
                    <a:pt x="4608576" y="0"/>
                  </a:lnTo>
                  <a:lnTo>
                    <a:pt x="460857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682" r="10714" b="-37682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4608576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2"/>
                </a:lnSpc>
              </a:pPr>
              <a:r>
                <a:rPr lang="en-US" sz="1774" i="1">
                  <a:solidFill>
                    <a:srgbClr val="5B6B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Wear it comfortably during activity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659839" y="3799332"/>
            <a:ext cx="7612380" cy="4869180"/>
            <a:chOff x="0" y="0"/>
            <a:chExt cx="10149840" cy="6492240"/>
          </a:xfrm>
        </p:grpSpPr>
        <p:sp>
          <p:nvSpPr>
            <p:cNvPr id="32" name="Freeform 32" descr="/home/claude/work/demo_booth3.png"/>
            <p:cNvSpPr/>
            <p:nvPr/>
          </p:nvSpPr>
          <p:spPr>
            <a:xfrm>
              <a:off x="0" y="0"/>
              <a:ext cx="10149840" cy="6492240"/>
            </a:xfrm>
            <a:custGeom>
              <a:avLst/>
              <a:gdLst/>
              <a:ahLst/>
              <a:cxnLst/>
              <a:rect l="l" t="t" r="r" b="b"/>
              <a:pathLst>
                <a:path w="10149840" h="6492240">
                  <a:moveTo>
                    <a:pt x="0" y="0"/>
                  </a:moveTo>
                  <a:lnTo>
                    <a:pt x="10149840" y="0"/>
                  </a:lnTo>
                  <a:lnTo>
                    <a:pt x="10149840" y="6492240"/>
                  </a:lnTo>
                  <a:lnTo>
                    <a:pt x="0" y="6492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027"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7831836" y="3771900"/>
            <a:ext cx="7612380" cy="27432"/>
            <a:chOff x="0" y="0"/>
            <a:chExt cx="10149840" cy="3657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149839" cy="36576"/>
            </a:xfrm>
            <a:custGeom>
              <a:avLst/>
              <a:gdLst/>
              <a:ahLst/>
              <a:cxnLst/>
              <a:rect l="l" t="t" r="r" b="b"/>
              <a:pathLst>
                <a:path w="10149839" h="36576">
                  <a:moveTo>
                    <a:pt x="0" y="6096"/>
                  </a:moveTo>
                  <a:cubicBezTo>
                    <a:pt x="0" y="2667"/>
                    <a:pt x="2667" y="0"/>
                    <a:pt x="6096" y="0"/>
                  </a:cubicBezTo>
                  <a:lnTo>
                    <a:pt x="10143744" y="0"/>
                  </a:lnTo>
                  <a:cubicBezTo>
                    <a:pt x="10147173" y="0"/>
                    <a:pt x="10149839" y="2667"/>
                    <a:pt x="10149839" y="6096"/>
                  </a:cubicBezTo>
                  <a:lnTo>
                    <a:pt x="10149839" y="30480"/>
                  </a:lnTo>
                  <a:cubicBezTo>
                    <a:pt x="10149839" y="33909"/>
                    <a:pt x="10147173" y="36576"/>
                    <a:pt x="10143744" y="36576"/>
                  </a:cubicBezTo>
                  <a:lnTo>
                    <a:pt x="6096" y="36576"/>
                  </a:lnTo>
                  <a:cubicBezTo>
                    <a:pt x="2667" y="36576"/>
                    <a:pt x="0" y="33909"/>
                    <a:pt x="0" y="30480"/>
                  </a:cubicBezTo>
                  <a:close/>
                </a:path>
              </a:pathLst>
            </a:custGeom>
            <a:solidFill>
              <a:srgbClr val="E3E9ED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8659839" y="8750808"/>
            <a:ext cx="7612380" cy="685800"/>
            <a:chOff x="0" y="0"/>
            <a:chExt cx="10149840" cy="914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149840" cy="914400"/>
            </a:xfrm>
            <a:custGeom>
              <a:avLst/>
              <a:gdLst/>
              <a:ahLst/>
              <a:cxnLst/>
              <a:rect l="l" t="t" r="r" b="b"/>
              <a:pathLst>
                <a:path w="10149840" h="914400">
                  <a:moveTo>
                    <a:pt x="0" y="0"/>
                  </a:moveTo>
                  <a:lnTo>
                    <a:pt x="10149840" y="0"/>
                  </a:lnTo>
                  <a:lnTo>
                    <a:pt x="10149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283" b="-166283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1014984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2"/>
                </a:lnSpc>
              </a:pPr>
              <a:r>
                <a:rPr lang="en-US" sz="1774" i="1">
                  <a:solidFill>
                    <a:srgbClr val="5B6B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Live dashboard walkthrough for visitors &amp; judges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54380" y="9601200"/>
            <a:ext cx="4114800" cy="480060"/>
            <a:chOff x="0" y="0"/>
            <a:chExt cx="5486400" cy="6400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486400" cy="640080"/>
            </a:xfrm>
            <a:custGeom>
              <a:avLst/>
              <a:gdLst/>
              <a:ahLst/>
              <a:cxnLst/>
              <a:rect l="l" t="t" r="r" b="b"/>
              <a:pathLst>
                <a:path w="5486400" h="640080">
                  <a:moveTo>
                    <a:pt x="0" y="0"/>
                  </a:moveTo>
                  <a:lnTo>
                    <a:pt x="5486400" y="0"/>
                  </a:lnTo>
                  <a:lnTo>
                    <a:pt x="5486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14" b="-117014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54864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50">
                  <a:solidFill>
                    <a:srgbClr val="5B6B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MONOJOG+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7053103" y="9601200"/>
            <a:ext cx="822960" cy="480060"/>
            <a:chOff x="0" y="0"/>
            <a:chExt cx="1097280" cy="64008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6230143" y="-685800"/>
            <a:ext cx="3017520" cy="3017520"/>
            <a:chOff x="0" y="0"/>
            <a:chExt cx="4023360" cy="4023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23360" cy="4023360"/>
            </a:xfrm>
            <a:custGeom>
              <a:avLst/>
              <a:gdLst/>
              <a:ahLst/>
              <a:cxnLst/>
              <a:rect l="l" t="t" r="r" b="b"/>
              <a:pathLst>
                <a:path w="4023360" h="4023360">
                  <a:moveTo>
                    <a:pt x="0" y="4023360"/>
                  </a:moveTo>
                  <a:lnTo>
                    <a:pt x="2011680" y="0"/>
                  </a:lnTo>
                  <a:lnTo>
                    <a:pt x="4023360" y="4023360"/>
                  </a:lnTo>
                  <a:close/>
                </a:path>
              </a:pathLst>
            </a:custGeom>
            <a:solidFill>
              <a:srgbClr val="1C7293">
                <a:alpha val="784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-822960" y="8366760"/>
            <a:ext cx="2468880" cy="2468880"/>
            <a:chOff x="0" y="0"/>
            <a:chExt cx="3291840" cy="3291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91840" cy="3291840"/>
            </a:xfrm>
            <a:custGeom>
              <a:avLst/>
              <a:gdLst/>
              <a:ahLst/>
              <a:cxnLst/>
              <a:rect l="l" t="t" r="r" b="b"/>
              <a:pathLst>
                <a:path w="3291840" h="3291840">
                  <a:moveTo>
                    <a:pt x="0" y="3291840"/>
                  </a:moveTo>
                  <a:lnTo>
                    <a:pt x="1645920" y="0"/>
                  </a:lnTo>
                  <a:lnTo>
                    <a:pt x="3291840" y="3291840"/>
                  </a:lnTo>
                  <a:close/>
                </a:path>
              </a:pathLst>
            </a:custGeom>
            <a:solidFill>
              <a:srgbClr val="F2994A">
                <a:alpha val="392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54380" y="685800"/>
            <a:ext cx="123444" cy="438912"/>
            <a:chOff x="0" y="0"/>
            <a:chExt cx="164592" cy="5852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92" cy="585216"/>
            </a:xfrm>
            <a:custGeom>
              <a:avLst/>
              <a:gdLst/>
              <a:ahLst/>
              <a:cxnLst/>
              <a:rect l="l" t="t" r="r" b="b"/>
              <a:pathLst>
                <a:path w="164592" h="585216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91440" y="0"/>
                  </a:lnTo>
                  <a:cubicBezTo>
                    <a:pt x="131826" y="0"/>
                    <a:pt x="164592" y="32766"/>
                    <a:pt x="164592" y="73152"/>
                  </a:cubicBezTo>
                  <a:lnTo>
                    <a:pt x="164592" y="512064"/>
                  </a:lnTo>
                  <a:cubicBezTo>
                    <a:pt x="164592" y="552450"/>
                    <a:pt x="131826" y="585216"/>
                    <a:pt x="91440" y="585216"/>
                  </a:cubicBezTo>
                  <a:lnTo>
                    <a:pt x="73152" y="585216"/>
                  </a:lnTo>
                  <a:cubicBezTo>
                    <a:pt x="32766" y="585216"/>
                    <a:pt x="0" y="552450"/>
                    <a:pt x="0" y="512064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28700" y="603504"/>
            <a:ext cx="10972800" cy="548640"/>
            <a:chOff x="0" y="0"/>
            <a:chExt cx="14630400" cy="731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 spc="300">
                  <a:solidFill>
                    <a:srgbClr val="F299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ROADMAP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4380" y="1069848"/>
            <a:ext cx="14401800" cy="1165860"/>
            <a:chOff x="0" y="0"/>
            <a:chExt cx="19202400" cy="15544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202400" cy="1554480"/>
            </a:xfrm>
            <a:custGeom>
              <a:avLst/>
              <a:gdLst/>
              <a:ahLst/>
              <a:cxnLst/>
              <a:rect l="l" t="t" r="r" b="b"/>
              <a:pathLst>
                <a:path w="19202400" h="1554480">
                  <a:moveTo>
                    <a:pt x="0" y="0"/>
                  </a:moveTo>
                  <a:lnTo>
                    <a:pt x="19202400" y="0"/>
                  </a:lnTo>
                  <a:lnTo>
                    <a:pt x="19202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697" b="-19069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9202400" cy="1573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What's Next for MONOJOG+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4855" y="2870835"/>
            <a:ext cx="5436870" cy="6328410"/>
            <a:chOff x="0" y="0"/>
            <a:chExt cx="7249160" cy="84378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249161" cy="8437880"/>
            </a:xfrm>
            <a:custGeom>
              <a:avLst/>
              <a:gdLst/>
              <a:ahLst/>
              <a:cxnLst/>
              <a:rect l="l" t="t" r="r" b="b"/>
              <a:pathLst>
                <a:path w="7249161" h="843788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7028942" y="0"/>
                  </a:lnTo>
                  <a:cubicBezTo>
                    <a:pt x="7150608" y="0"/>
                    <a:pt x="7249161" y="98552"/>
                    <a:pt x="7249161" y="220218"/>
                  </a:cubicBezTo>
                  <a:lnTo>
                    <a:pt x="7249161" y="8217662"/>
                  </a:lnTo>
                  <a:cubicBezTo>
                    <a:pt x="7249161" y="8339328"/>
                    <a:pt x="7150608" y="8437880"/>
                    <a:pt x="7028942" y="8437880"/>
                  </a:cubicBezTo>
                  <a:lnTo>
                    <a:pt x="220218" y="8437880"/>
                  </a:lnTo>
                  <a:cubicBezTo>
                    <a:pt x="98552" y="8437880"/>
                    <a:pt x="0" y="8339328"/>
                    <a:pt x="0" y="821766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D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165860" y="3291840"/>
            <a:ext cx="891540" cy="891540"/>
            <a:chOff x="0" y="0"/>
            <a:chExt cx="1188720" cy="11887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379830" y="3505810"/>
            <a:ext cx="463601" cy="463601"/>
            <a:chOff x="0" y="0"/>
            <a:chExt cx="618134" cy="618134"/>
          </a:xfrm>
        </p:grpSpPr>
        <p:sp>
          <p:nvSpPr>
            <p:cNvPr id="19" name="Freeform 19" descr="/home/claude/work/icons/shield.png"/>
            <p:cNvSpPr/>
            <p:nvPr/>
          </p:nvSpPr>
          <p:spPr>
            <a:xfrm>
              <a:off x="0" y="0"/>
              <a:ext cx="618109" cy="618109"/>
            </a:xfrm>
            <a:custGeom>
              <a:avLst/>
              <a:gdLst/>
              <a:ahLst/>
              <a:cxnLst/>
              <a:rect l="l" t="t" r="r" b="b"/>
              <a:pathLst>
                <a:path w="618109" h="618109">
                  <a:moveTo>
                    <a:pt x="0" y="0"/>
                  </a:moveTo>
                  <a:lnTo>
                    <a:pt x="618109" y="0"/>
                  </a:lnTo>
                  <a:lnTo>
                    <a:pt x="618109" y="618109"/>
                  </a:lnTo>
                  <a:lnTo>
                    <a:pt x="0" y="618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4" b="-4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165860" y="4389120"/>
            <a:ext cx="4594860" cy="411480"/>
            <a:chOff x="0" y="0"/>
            <a:chExt cx="6126480" cy="5486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126480" cy="548640"/>
            </a:xfrm>
            <a:custGeom>
              <a:avLst/>
              <a:gdLst/>
              <a:ahLst/>
              <a:cxnLst/>
              <a:rect l="l" t="t" r="r" b="b"/>
              <a:pathLst>
                <a:path w="6126480" h="548640">
                  <a:moveTo>
                    <a:pt x="0" y="0"/>
                  </a:moveTo>
                  <a:lnTo>
                    <a:pt x="6126480" y="0"/>
                  </a:lnTo>
                  <a:lnTo>
                    <a:pt x="6126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7582" b="-167582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612648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224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NEAR-TERM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65860" y="4828032"/>
            <a:ext cx="4594860" cy="822960"/>
            <a:chOff x="0" y="0"/>
            <a:chExt cx="6126480" cy="10972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126480" cy="1097280"/>
            </a:xfrm>
            <a:custGeom>
              <a:avLst/>
              <a:gdLst/>
              <a:ahLst/>
              <a:cxnLst/>
              <a:rect l="l" t="t" r="r" b="b"/>
              <a:pathLst>
                <a:path w="6126480" h="1097280">
                  <a:moveTo>
                    <a:pt x="0" y="0"/>
                  </a:moveTo>
                  <a:lnTo>
                    <a:pt x="6126480" y="0"/>
                  </a:lnTo>
                  <a:lnTo>
                    <a:pt x="6126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791" b="-58791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6126480" cy="11258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8"/>
                </a:lnSpc>
              </a:pPr>
              <a:r>
                <a:rPr lang="en-US" sz="2475" b="1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Guided Clinical Pilot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65860" y="5692140"/>
            <a:ext cx="4594860" cy="3154680"/>
            <a:chOff x="0" y="0"/>
            <a:chExt cx="6126480" cy="42062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126480" cy="4206240"/>
            </a:xfrm>
            <a:custGeom>
              <a:avLst/>
              <a:gdLst/>
              <a:ahLst/>
              <a:cxnLst/>
              <a:rect l="l" t="t" r="r" b="b"/>
              <a:pathLst>
                <a:path w="6126480" h="4206240">
                  <a:moveTo>
                    <a:pt x="0" y="0"/>
                  </a:moveTo>
                  <a:lnTo>
                    <a:pt x="6126480" y="0"/>
                  </a:lnTo>
                  <a:lnTo>
                    <a:pt x="6126480" y="4206240"/>
                  </a:lnTo>
                  <a:lnTo>
                    <a:pt x="0" y="420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89" r="-38089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104775"/>
              <a:ext cx="6126480" cy="43110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58"/>
                </a:lnSpc>
              </a:pPr>
              <a:r>
                <a:rPr lang="en-US" sz="2024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Structured pilot with therapy centers &amp; special schools; consent-based data collection to validate attention metrics.</a:t>
              </a:r>
            </a:p>
          </p:txBody>
        </p:sp>
      </p:grpSp>
      <p:sp>
        <p:nvSpPr>
          <p:cNvPr id="29" name="AutoShape 29"/>
          <p:cNvSpPr/>
          <p:nvPr/>
        </p:nvSpPr>
        <p:spPr>
          <a:xfrm rot="504899">
            <a:off x="6179182" y="6025515"/>
            <a:ext cx="260356" cy="0"/>
          </a:xfrm>
          <a:prstGeom prst="line">
            <a:avLst/>
          </a:prstGeom>
          <a:ln w="19050" cap="rnd">
            <a:solidFill>
              <a:srgbClr val="5FA8C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0" name="Group 30"/>
          <p:cNvGrpSpPr/>
          <p:nvPr/>
        </p:nvGrpSpPr>
        <p:grpSpPr>
          <a:xfrm>
            <a:off x="6436995" y="2870835"/>
            <a:ext cx="5436870" cy="6328410"/>
            <a:chOff x="0" y="0"/>
            <a:chExt cx="7249160" cy="84378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249161" cy="8437880"/>
            </a:xfrm>
            <a:custGeom>
              <a:avLst/>
              <a:gdLst/>
              <a:ahLst/>
              <a:cxnLst/>
              <a:rect l="l" t="t" r="r" b="b"/>
              <a:pathLst>
                <a:path w="7249161" h="843788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7028942" y="0"/>
                  </a:lnTo>
                  <a:cubicBezTo>
                    <a:pt x="7150608" y="0"/>
                    <a:pt x="7249161" y="98552"/>
                    <a:pt x="7249161" y="220218"/>
                  </a:cubicBezTo>
                  <a:lnTo>
                    <a:pt x="7249161" y="8217662"/>
                  </a:lnTo>
                  <a:cubicBezTo>
                    <a:pt x="7249161" y="8339328"/>
                    <a:pt x="7150608" y="8437880"/>
                    <a:pt x="7028942" y="8437880"/>
                  </a:cubicBezTo>
                  <a:lnTo>
                    <a:pt x="220218" y="8437880"/>
                  </a:lnTo>
                  <a:cubicBezTo>
                    <a:pt x="98552" y="8437880"/>
                    <a:pt x="0" y="8339328"/>
                    <a:pt x="0" y="821766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D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6858000" y="3291840"/>
            <a:ext cx="891540" cy="891540"/>
            <a:chOff x="0" y="0"/>
            <a:chExt cx="1188720" cy="11887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7071970" y="3505810"/>
            <a:ext cx="463601" cy="463601"/>
            <a:chOff x="0" y="0"/>
            <a:chExt cx="618134" cy="618134"/>
          </a:xfrm>
        </p:grpSpPr>
        <p:sp>
          <p:nvSpPr>
            <p:cNvPr id="35" name="Freeform 35" descr="/home/claude/work/icons/brain.png"/>
            <p:cNvSpPr/>
            <p:nvPr/>
          </p:nvSpPr>
          <p:spPr>
            <a:xfrm>
              <a:off x="0" y="0"/>
              <a:ext cx="618109" cy="618109"/>
            </a:xfrm>
            <a:custGeom>
              <a:avLst/>
              <a:gdLst/>
              <a:ahLst/>
              <a:cxnLst/>
              <a:rect l="l" t="t" r="r" b="b"/>
              <a:pathLst>
                <a:path w="618109" h="618109">
                  <a:moveTo>
                    <a:pt x="0" y="0"/>
                  </a:moveTo>
                  <a:lnTo>
                    <a:pt x="618109" y="0"/>
                  </a:lnTo>
                  <a:lnTo>
                    <a:pt x="618109" y="618109"/>
                  </a:lnTo>
                  <a:lnTo>
                    <a:pt x="0" y="618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4" b="-4"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6858000" y="4389120"/>
            <a:ext cx="4594860" cy="411480"/>
            <a:chOff x="0" y="0"/>
            <a:chExt cx="6126480" cy="5486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126480" cy="548640"/>
            </a:xfrm>
            <a:custGeom>
              <a:avLst/>
              <a:gdLst/>
              <a:ahLst/>
              <a:cxnLst/>
              <a:rect l="l" t="t" r="r" b="b"/>
              <a:pathLst>
                <a:path w="6126480" h="548640">
                  <a:moveTo>
                    <a:pt x="0" y="0"/>
                  </a:moveTo>
                  <a:lnTo>
                    <a:pt x="6126480" y="0"/>
                  </a:lnTo>
                  <a:lnTo>
                    <a:pt x="6126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7582" b="-167582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612648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224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MID-TERM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858000" y="4828032"/>
            <a:ext cx="4594860" cy="822960"/>
            <a:chOff x="0" y="0"/>
            <a:chExt cx="6126480" cy="109728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126480" cy="1097280"/>
            </a:xfrm>
            <a:custGeom>
              <a:avLst/>
              <a:gdLst/>
              <a:ahLst/>
              <a:cxnLst/>
              <a:rect l="l" t="t" r="r" b="b"/>
              <a:pathLst>
                <a:path w="6126480" h="1097280">
                  <a:moveTo>
                    <a:pt x="0" y="0"/>
                  </a:moveTo>
                  <a:lnTo>
                    <a:pt x="6126480" y="0"/>
                  </a:lnTo>
                  <a:lnTo>
                    <a:pt x="6126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791" b="-58791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28575"/>
              <a:ext cx="6126480" cy="11258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8"/>
                </a:lnSpc>
              </a:pPr>
              <a:r>
                <a:rPr lang="en-US" sz="2475" b="1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Personalized AI Models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858000" y="5692140"/>
            <a:ext cx="4594860" cy="3154680"/>
            <a:chOff x="0" y="0"/>
            <a:chExt cx="6126480" cy="42062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126480" cy="4206240"/>
            </a:xfrm>
            <a:custGeom>
              <a:avLst/>
              <a:gdLst/>
              <a:ahLst/>
              <a:cxnLst/>
              <a:rect l="l" t="t" r="r" b="b"/>
              <a:pathLst>
                <a:path w="6126480" h="4206240">
                  <a:moveTo>
                    <a:pt x="0" y="0"/>
                  </a:moveTo>
                  <a:lnTo>
                    <a:pt x="6126480" y="0"/>
                  </a:lnTo>
                  <a:lnTo>
                    <a:pt x="6126480" y="4206240"/>
                  </a:lnTo>
                  <a:lnTo>
                    <a:pt x="0" y="420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89" r="-38089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104775"/>
              <a:ext cx="6126480" cy="43110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58"/>
                </a:lnSpc>
              </a:pPr>
              <a:r>
                <a:rPr lang="en-US" sz="2024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Child-specific engagement models, a caregiver mobile app, and expanded cloud analytics.</a:t>
              </a:r>
            </a:p>
          </p:txBody>
        </p:sp>
      </p:grpSp>
      <p:sp>
        <p:nvSpPr>
          <p:cNvPr id="45" name="AutoShape 45"/>
          <p:cNvSpPr/>
          <p:nvPr/>
        </p:nvSpPr>
        <p:spPr>
          <a:xfrm rot="504899">
            <a:off x="11871322" y="6025515"/>
            <a:ext cx="260356" cy="0"/>
          </a:xfrm>
          <a:prstGeom prst="line">
            <a:avLst/>
          </a:prstGeom>
          <a:ln w="19050" cap="rnd">
            <a:solidFill>
              <a:srgbClr val="5FA8C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6" name="Group 46"/>
          <p:cNvGrpSpPr/>
          <p:nvPr/>
        </p:nvGrpSpPr>
        <p:grpSpPr>
          <a:xfrm>
            <a:off x="12129135" y="2870835"/>
            <a:ext cx="5436870" cy="6328410"/>
            <a:chOff x="0" y="0"/>
            <a:chExt cx="7249160" cy="843788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249161" cy="8437880"/>
            </a:xfrm>
            <a:custGeom>
              <a:avLst/>
              <a:gdLst/>
              <a:ahLst/>
              <a:cxnLst/>
              <a:rect l="l" t="t" r="r" b="b"/>
              <a:pathLst>
                <a:path w="7249161" h="843788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7028942" y="0"/>
                  </a:lnTo>
                  <a:cubicBezTo>
                    <a:pt x="7150608" y="0"/>
                    <a:pt x="7249161" y="98552"/>
                    <a:pt x="7249161" y="220218"/>
                  </a:cubicBezTo>
                  <a:lnTo>
                    <a:pt x="7249161" y="8217662"/>
                  </a:lnTo>
                  <a:cubicBezTo>
                    <a:pt x="7249161" y="8339328"/>
                    <a:pt x="7150608" y="8437880"/>
                    <a:pt x="7028942" y="8437880"/>
                  </a:cubicBezTo>
                  <a:lnTo>
                    <a:pt x="220218" y="8437880"/>
                  </a:lnTo>
                  <a:cubicBezTo>
                    <a:pt x="98552" y="8437880"/>
                    <a:pt x="0" y="8339328"/>
                    <a:pt x="0" y="8217662"/>
                  </a:cubicBezTo>
                  <a:close/>
                </a:path>
              </a:pathLst>
            </a:custGeom>
            <a:solidFill>
              <a:srgbClr val="1B2A4A"/>
            </a:solidFill>
            <a:ln w="19050" cap="sq">
              <a:solidFill>
                <a:srgbClr val="1B2A4A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12550140" y="3291840"/>
            <a:ext cx="891540" cy="891540"/>
            <a:chOff x="0" y="0"/>
            <a:chExt cx="1188720" cy="118872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2764110" y="3505810"/>
            <a:ext cx="463601" cy="463601"/>
            <a:chOff x="0" y="0"/>
            <a:chExt cx="618134" cy="618134"/>
          </a:xfrm>
        </p:grpSpPr>
        <p:sp>
          <p:nvSpPr>
            <p:cNvPr id="51" name="Freeform 51" descr="/home/claude/work/icons/globe.png"/>
            <p:cNvSpPr/>
            <p:nvPr/>
          </p:nvSpPr>
          <p:spPr>
            <a:xfrm>
              <a:off x="0" y="0"/>
              <a:ext cx="618109" cy="618109"/>
            </a:xfrm>
            <a:custGeom>
              <a:avLst/>
              <a:gdLst/>
              <a:ahLst/>
              <a:cxnLst/>
              <a:rect l="l" t="t" r="r" b="b"/>
              <a:pathLst>
                <a:path w="618109" h="618109">
                  <a:moveTo>
                    <a:pt x="0" y="0"/>
                  </a:moveTo>
                  <a:lnTo>
                    <a:pt x="618109" y="0"/>
                  </a:lnTo>
                  <a:lnTo>
                    <a:pt x="618109" y="618109"/>
                  </a:lnTo>
                  <a:lnTo>
                    <a:pt x="0" y="618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4" b="-4"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12550140" y="4389120"/>
            <a:ext cx="4594860" cy="411480"/>
            <a:chOff x="0" y="0"/>
            <a:chExt cx="6126480" cy="54864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126480" cy="548640"/>
            </a:xfrm>
            <a:custGeom>
              <a:avLst/>
              <a:gdLst/>
              <a:ahLst/>
              <a:cxnLst/>
              <a:rect l="l" t="t" r="r" b="b"/>
              <a:pathLst>
                <a:path w="6126480" h="548640">
                  <a:moveTo>
                    <a:pt x="0" y="0"/>
                  </a:moveTo>
                  <a:lnTo>
                    <a:pt x="6126480" y="0"/>
                  </a:lnTo>
                  <a:lnTo>
                    <a:pt x="6126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7582" b="-167582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612648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 spc="224">
                  <a:solidFill>
                    <a:srgbClr val="F299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LONG-TERM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2550140" y="4828032"/>
            <a:ext cx="4594860" cy="822960"/>
            <a:chOff x="0" y="0"/>
            <a:chExt cx="6126480" cy="109728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126480" cy="1097280"/>
            </a:xfrm>
            <a:custGeom>
              <a:avLst/>
              <a:gdLst/>
              <a:ahLst/>
              <a:cxnLst/>
              <a:rect l="l" t="t" r="r" b="b"/>
              <a:pathLst>
                <a:path w="6126480" h="1097280">
                  <a:moveTo>
                    <a:pt x="0" y="0"/>
                  </a:moveTo>
                  <a:lnTo>
                    <a:pt x="6126480" y="0"/>
                  </a:lnTo>
                  <a:lnTo>
                    <a:pt x="6126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791" b="-58791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28575"/>
              <a:ext cx="6126480" cy="11258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8"/>
                </a:lnSpc>
              </a:pPr>
              <a:r>
                <a:rPr lang="en-US" sz="2475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National Accessibility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2550140" y="5692140"/>
            <a:ext cx="4594860" cy="3154680"/>
            <a:chOff x="0" y="0"/>
            <a:chExt cx="6126480" cy="420624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6126480" cy="4206240"/>
            </a:xfrm>
            <a:custGeom>
              <a:avLst/>
              <a:gdLst/>
              <a:ahLst/>
              <a:cxnLst/>
              <a:rect l="l" t="t" r="r" b="b"/>
              <a:pathLst>
                <a:path w="6126480" h="4206240">
                  <a:moveTo>
                    <a:pt x="0" y="0"/>
                  </a:moveTo>
                  <a:lnTo>
                    <a:pt x="6126480" y="0"/>
                  </a:lnTo>
                  <a:lnTo>
                    <a:pt x="6126480" y="4206240"/>
                  </a:lnTo>
                  <a:lnTo>
                    <a:pt x="0" y="420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89" r="-38089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104775"/>
              <a:ext cx="6126480" cy="43110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58"/>
                </a:lnSpc>
              </a:pPr>
              <a:r>
                <a:rPr lang="en-US" sz="2024">
                  <a:solidFill>
                    <a:srgbClr val="CADC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Multi-language platform, NGO &amp; Ministry partnerships, and affordable rollout across special-needs schools in Bangladesh.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54380" y="9601200"/>
            <a:ext cx="4114800" cy="480060"/>
            <a:chOff x="0" y="0"/>
            <a:chExt cx="5486400" cy="64008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486400" cy="640080"/>
            </a:xfrm>
            <a:custGeom>
              <a:avLst/>
              <a:gdLst/>
              <a:ahLst/>
              <a:cxnLst/>
              <a:rect l="l" t="t" r="r" b="b"/>
              <a:pathLst>
                <a:path w="5486400" h="640080">
                  <a:moveTo>
                    <a:pt x="0" y="0"/>
                  </a:moveTo>
                  <a:lnTo>
                    <a:pt x="5486400" y="0"/>
                  </a:lnTo>
                  <a:lnTo>
                    <a:pt x="5486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14" b="-117014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38100"/>
              <a:ext cx="54864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50">
                  <a:solidFill>
                    <a:srgbClr val="5B6B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MONOJOG+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7053103" y="9601200"/>
            <a:ext cx="822960" cy="480060"/>
            <a:chOff x="0" y="0"/>
            <a:chExt cx="1097280" cy="64008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6553054" y="-916451"/>
            <a:ext cx="3017520" cy="3017520"/>
            <a:chOff x="0" y="0"/>
            <a:chExt cx="4023360" cy="4023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23360" cy="4023360"/>
            </a:xfrm>
            <a:custGeom>
              <a:avLst/>
              <a:gdLst/>
              <a:ahLst/>
              <a:cxnLst/>
              <a:rect l="l" t="t" r="r" b="b"/>
              <a:pathLst>
                <a:path w="4023360" h="4023360">
                  <a:moveTo>
                    <a:pt x="0" y="4023360"/>
                  </a:moveTo>
                  <a:lnTo>
                    <a:pt x="2011680" y="0"/>
                  </a:lnTo>
                  <a:lnTo>
                    <a:pt x="4023360" y="4023360"/>
                  </a:lnTo>
                  <a:close/>
                </a:path>
              </a:pathLst>
            </a:custGeom>
            <a:solidFill>
              <a:srgbClr val="1C7293">
                <a:alpha val="784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-822960" y="8366760"/>
            <a:ext cx="2468880" cy="2468880"/>
            <a:chOff x="0" y="0"/>
            <a:chExt cx="3291840" cy="3291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91840" cy="3291840"/>
            </a:xfrm>
            <a:custGeom>
              <a:avLst/>
              <a:gdLst/>
              <a:ahLst/>
              <a:cxnLst/>
              <a:rect l="l" t="t" r="r" b="b"/>
              <a:pathLst>
                <a:path w="3291840" h="3291840">
                  <a:moveTo>
                    <a:pt x="0" y="3291840"/>
                  </a:moveTo>
                  <a:lnTo>
                    <a:pt x="1645920" y="0"/>
                  </a:lnTo>
                  <a:lnTo>
                    <a:pt x="3291840" y="3291840"/>
                  </a:lnTo>
                  <a:close/>
                </a:path>
              </a:pathLst>
            </a:custGeom>
            <a:solidFill>
              <a:srgbClr val="F2994A">
                <a:alpha val="392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54380" y="685800"/>
            <a:ext cx="123444" cy="438912"/>
            <a:chOff x="0" y="0"/>
            <a:chExt cx="164592" cy="5852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92" cy="585216"/>
            </a:xfrm>
            <a:custGeom>
              <a:avLst/>
              <a:gdLst/>
              <a:ahLst/>
              <a:cxnLst/>
              <a:rect l="l" t="t" r="r" b="b"/>
              <a:pathLst>
                <a:path w="164592" h="585216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91440" y="0"/>
                  </a:lnTo>
                  <a:cubicBezTo>
                    <a:pt x="131826" y="0"/>
                    <a:pt x="164592" y="32766"/>
                    <a:pt x="164592" y="73152"/>
                  </a:cubicBezTo>
                  <a:lnTo>
                    <a:pt x="164592" y="512064"/>
                  </a:lnTo>
                  <a:cubicBezTo>
                    <a:pt x="164592" y="552450"/>
                    <a:pt x="131826" y="585216"/>
                    <a:pt x="91440" y="585216"/>
                  </a:cubicBezTo>
                  <a:lnTo>
                    <a:pt x="73152" y="585216"/>
                  </a:lnTo>
                  <a:cubicBezTo>
                    <a:pt x="32766" y="585216"/>
                    <a:pt x="0" y="552450"/>
                    <a:pt x="0" y="5120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28700" y="603504"/>
            <a:ext cx="10972800" cy="548640"/>
            <a:chOff x="0" y="0"/>
            <a:chExt cx="14630400" cy="731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TEAM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4380" y="1069848"/>
            <a:ext cx="14401800" cy="1165860"/>
            <a:chOff x="0" y="0"/>
            <a:chExt cx="19202400" cy="15544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202400" cy="1554480"/>
            </a:xfrm>
            <a:custGeom>
              <a:avLst/>
              <a:gdLst/>
              <a:ahLst/>
              <a:cxnLst/>
              <a:rect l="l" t="t" r="r" b="b"/>
              <a:pathLst>
                <a:path w="19202400" h="1554480">
                  <a:moveTo>
                    <a:pt x="0" y="0"/>
                  </a:moveTo>
                  <a:lnTo>
                    <a:pt x="19202400" y="0"/>
                  </a:lnTo>
                  <a:lnTo>
                    <a:pt x="192024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6083" b="-51608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9202400" cy="1573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1621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Team MONOJOG+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16102" y="2054477"/>
            <a:ext cx="14401800" cy="404631"/>
            <a:chOff x="0" y="0"/>
            <a:chExt cx="19202400" cy="53950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202400" cy="539506"/>
            </a:xfrm>
            <a:custGeom>
              <a:avLst/>
              <a:gdLst/>
              <a:ahLst/>
              <a:cxnLst/>
              <a:rect l="l" t="t" r="r" b="b"/>
              <a:pathLst>
                <a:path w="19202400" h="539506">
                  <a:moveTo>
                    <a:pt x="0" y="0"/>
                  </a:moveTo>
                  <a:lnTo>
                    <a:pt x="19202400" y="0"/>
                  </a:lnTo>
                  <a:lnTo>
                    <a:pt x="19202400" y="539506"/>
                  </a:lnTo>
                  <a:lnTo>
                    <a:pt x="0" y="5395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5329" b="-641714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9202400" cy="577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>
                  <a:solidFill>
                    <a:srgbClr val="5B6B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Department of Computer Science &amp; Engineering (CSE) — University of Information Technology &amp; Sciences (UITS)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44855" y="2571477"/>
            <a:ext cx="3169053" cy="5049047"/>
            <a:chOff x="0" y="0"/>
            <a:chExt cx="4225404" cy="67320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225417" cy="6732101"/>
            </a:xfrm>
            <a:custGeom>
              <a:avLst/>
              <a:gdLst/>
              <a:ahLst/>
              <a:cxnLst/>
              <a:rect l="l" t="t" r="r" b="b"/>
              <a:pathLst>
                <a:path w="4225417" h="6732101">
                  <a:moveTo>
                    <a:pt x="0" y="184143"/>
                  </a:moveTo>
                  <a:cubicBezTo>
                    <a:pt x="0" y="82376"/>
                    <a:pt x="78232" y="0"/>
                    <a:pt x="174879" y="0"/>
                  </a:cubicBezTo>
                  <a:lnTo>
                    <a:pt x="4050538" y="0"/>
                  </a:lnTo>
                  <a:cubicBezTo>
                    <a:pt x="4147058" y="0"/>
                    <a:pt x="4225417" y="82376"/>
                    <a:pt x="4225417" y="184143"/>
                  </a:cubicBezTo>
                  <a:lnTo>
                    <a:pt x="4225417" y="6547960"/>
                  </a:lnTo>
                  <a:cubicBezTo>
                    <a:pt x="4225417" y="6649593"/>
                    <a:pt x="4147185" y="6732101"/>
                    <a:pt x="4050538" y="6732101"/>
                  </a:cubicBezTo>
                  <a:lnTo>
                    <a:pt x="174879" y="6732101"/>
                  </a:lnTo>
                  <a:cubicBezTo>
                    <a:pt x="78232" y="6732101"/>
                    <a:pt x="0" y="6649593"/>
                    <a:pt x="0" y="654796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D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949738" y="5213130"/>
            <a:ext cx="2964304" cy="530454"/>
            <a:chOff x="0" y="0"/>
            <a:chExt cx="3800005" cy="680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800000" cy="680004"/>
            </a:xfrm>
            <a:custGeom>
              <a:avLst/>
              <a:gdLst/>
              <a:ahLst/>
              <a:cxnLst/>
              <a:rect l="l" t="t" r="r" b="b"/>
              <a:pathLst>
                <a:path w="3800000" h="680004">
                  <a:moveTo>
                    <a:pt x="0" y="0"/>
                  </a:moveTo>
                  <a:lnTo>
                    <a:pt x="3800000" y="0"/>
                  </a:lnTo>
                  <a:lnTo>
                    <a:pt x="3800000" y="680004"/>
                  </a:lnTo>
                  <a:lnTo>
                    <a:pt x="0" y="6800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887" b="-58885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800005" cy="718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Fahima Abida Chowdhury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04380" y="6060062"/>
            <a:ext cx="2850004" cy="1550940"/>
            <a:chOff x="0" y="0"/>
            <a:chExt cx="3800005" cy="20679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800000" cy="2067925"/>
            </a:xfrm>
            <a:custGeom>
              <a:avLst/>
              <a:gdLst/>
              <a:ahLst/>
              <a:cxnLst/>
              <a:rect l="l" t="t" r="r" b="b"/>
              <a:pathLst>
                <a:path w="3800000" h="2067925">
                  <a:moveTo>
                    <a:pt x="0" y="0"/>
                  </a:moveTo>
                  <a:lnTo>
                    <a:pt x="3800000" y="0"/>
                  </a:lnTo>
                  <a:lnTo>
                    <a:pt x="3800000" y="2067925"/>
                  </a:lnTo>
                  <a:lnTo>
                    <a:pt x="0" y="2067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821" r="-19821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76200"/>
              <a:ext cx="3800005" cy="2144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18"/>
                </a:lnSpc>
              </a:pPr>
              <a:r>
                <a:rPr lang="en-US" sz="1824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Hardware Integration &amp; System Architecture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152167" y="2571477"/>
            <a:ext cx="3169053" cy="5049047"/>
            <a:chOff x="0" y="0"/>
            <a:chExt cx="4225404" cy="673206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225417" cy="6732101"/>
            </a:xfrm>
            <a:custGeom>
              <a:avLst/>
              <a:gdLst/>
              <a:ahLst/>
              <a:cxnLst/>
              <a:rect l="l" t="t" r="r" b="b"/>
              <a:pathLst>
                <a:path w="4225417" h="6732101">
                  <a:moveTo>
                    <a:pt x="0" y="184143"/>
                  </a:moveTo>
                  <a:cubicBezTo>
                    <a:pt x="0" y="82376"/>
                    <a:pt x="78232" y="0"/>
                    <a:pt x="174879" y="0"/>
                  </a:cubicBezTo>
                  <a:lnTo>
                    <a:pt x="4050538" y="0"/>
                  </a:lnTo>
                  <a:cubicBezTo>
                    <a:pt x="4147058" y="0"/>
                    <a:pt x="4225417" y="82376"/>
                    <a:pt x="4225417" y="184143"/>
                  </a:cubicBezTo>
                  <a:lnTo>
                    <a:pt x="4225417" y="6547960"/>
                  </a:lnTo>
                  <a:cubicBezTo>
                    <a:pt x="4225417" y="6649593"/>
                    <a:pt x="4147185" y="6732101"/>
                    <a:pt x="4050538" y="6732101"/>
                  </a:cubicBezTo>
                  <a:lnTo>
                    <a:pt x="174879" y="6732101"/>
                  </a:lnTo>
                  <a:cubicBezTo>
                    <a:pt x="78232" y="6732101"/>
                    <a:pt x="0" y="6649593"/>
                    <a:pt x="0" y="654796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D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4292108" y="5211063"/>
            <a:ext cx="2850004" cy="510000"/>
            <a:chOff x="0" y="0"/>
            <a:chExt cx="3800005" cy="680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800000" cy="680004"/>
            </a:xfrm>
            <a:custGeom>
              <a:avLst/>
              <a:gdLst/>
              <a:ahLst/>
              <a:cxnLst/>
              <a:rect l="l" t="t" r="r" b="b"/>
              <a:pathLst>
                <a:path w="3800000" h="680004">
                  <a:moveTo>
                    <a:pt x="0" y="0"/>
                  </a:moveTo>
                  <a:lnTo>
                    <a:pt x="3800000" y="0"/>
                  </a:lnTo>
                  <a:lnTo>
                    <a:pt x="3800000" y="680004"/>
                  </a:lnTo>
                  <a:lnTo>
                    <a:pt x="0" y="6800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887" b="-58885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3800005" cy="718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Yeasmin Kabir Keya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11691" y="6060062"/>
            <a:ext cx="2850004" cy="1550940"/>
            <a:chOff x="0" y="0"/>
            <a:chExt cx="3800005" cy="20679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800000" cy="2067925"/>
            </a:xfrm>
            <a:custGeom>
              <a:avLst/>
              <a:gdLst/>
              <a:ahLst/>
              <a:cxnLst/>
              <a:rect l="l" t="t" r="r" b="b"/>
              <a:pathLst>
                <a:path w="3800000" h="2067925">
                  <a:moveTo>
                    <a:pt x="0" y="0"/>
                  </a:moveTo>
                  <a:lnTo>
                    <a:pt x="3800000" y="0"/>
                  </a:lnTo>
                  <a:lnTo>
                    <a:pt x="3800000" y="2067925"/>
                  </a:lnTo>
                  <a:lnTo>
                    <a:pt x="0" y="2067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821" r="-19821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76200"/>
              <a:ext cx="3800005" cy="2144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18"/>
                </a:lnSpc>
              </a:pPr>
              <a:r>
                <a:rPr lang="en-US" sz="1824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Backend, Database &amp; Real-Time Data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559478" y="2571477"/>
            <a:ext cx="3169053" cy="5049047"/>
            <a:chOff x="0" y="0"/>
            <a:chExt cx="4225404" cy="673206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225417" cy="6732101"/>
            </a:xfrm>
            <a:custGeom>
              <a:avLst/>
              <a:gdLst/>
              <a:ahLst/>
              <a:cxnLst/>
              <a:rect l="l" t="t" r="r" b="b"/>
              <a:pathLst>
                <a:path w="4225417" h="6732101">
                  <a:moveTo>
                    <a:pt x="0" y="184143"/>
                  </a:moveTo>
                  <a:cubicBezTo>
                    <a:pt x="0" y="82376"/>
                    <a:pt x="78232" y="0"/>
                    <a:pt x="174879" y="0"/>
                  </a:cubicBezTo>
                  <a:lnTo>
                    <a:pt x="4050538" y="0"/>
                  </a:lnTo>
                  <a:cubicBezTo>
                    <a:pt x="4147058" y="0"/>
                    <a:pt x="4225417" y="82376"/>
                    <a:pt x="4225417" y="184143"/>
                  </a:cubicBezTo>
                  <a:lnTo>
                    <a:pt x="4225417" y="6547960"/>
                  </a:lnTo>
                  <a:cubicBezTo>
                    <a:pt x="4225417" y="6649593"/>
                    <a:pt x="4147185" y="6732101"/>
                    <a:pt x="4050538" y="6732101"/>
                  </a:cubicBezTo>
                  <a:lnTo>
                    <a:pt x="174879" y="6732101"/>
                  </a:lnTo>
                  <a:cubicBezTo>
                    <a:pt x="78232" y="6732101"/>
                    <a:pt x="0" y="6649593"/>
                    <a:pt x="0" y="654796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D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7696138" y="5233584"/>
            <a:ext cx="2850004" cy="510000"/>
            <a:chOff x="0" y="0"/>
            <a:chExt cx="3800005" cy="6800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800000" cy="680004"/>
            </a:xfrm>
            <a:custGeom>
              <a:avLst/>
              <a:gdLst/>
              <a:ahLst/>
              <a:cxnLst/>
              <a:rect l="l" t="t" r="r" b="b"/>
              <a:pathLst>
                <a:path w="3800000" h="680004">
                  <a:moveTo>
                    <a:pt x="0" y="0"/>
                  </a:moveTo>
                  <a:lnTo>
                    <a:pt x="3800000" y="0"/>
                  </a:lnTo>
                  <a:lnTo>
                    <a:pt x="3800000" y="680004"/>
                  </a:lnTo>
                  <a:lnTo>
                    <a:pt x="0" y="6800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887" b="-58885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3800005" cy="718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Arpa Bhowmik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719003" y="6060062"/>
            <a:ext cx="2850004" cy="1550940"/>
            <a:chOff x="0" y="0"/>
            <a:chExt cx="3800005" cy="20679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800000" cy="2067925"/>
            </a:xfrm>
            <a:custGeom>
              <a:avLst/>
              <a:gdLst/>
              <a:ahLst/>
              <a:cxnLst/>
              <a:rect l="l" t="t" r="r" b="b"/>
              <a:pathLst>
                <a:path w="3800000" h="2067925">
                  <a:moveTo>
                    <a:pt x="0" y="0"/>
                  </a:moveTo>
                  <a:lnTo>
                    <a:pt x="3800000" y="0"/>
                  </a:lnTo>
                  <a:lnTo>
                    <a:pt x="3800000" y="2067925"/>
                  </a:lnTo>
                  <a:lnTo>
                    <a:pt x="0" y="2067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821" r="-19821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76200"/>
              <a:ext cx="3800005" cy="2144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18"/>
                </a:lnSpc>
              </a:pPr>
              <a:r>
                <a:rPr lang="en-US" sz="1824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Wireless Communication &amp; Testing (ESP32)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0966790" y="2571477"/>
            <a:ext cx="3169053" cy="5049047"/>
            <a:chOff x="0" y="0"/>
            <a:chExt cx="4225404" cy="673206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225417" cy="6732101"/>
            </a:xfrm>
            <a:custGeom>
              <a:avLst/>
              <a:gdLst/>
              <a:ahLst/>
              <a:cxnLst/>
              <a:rect l="l" t="t" r="r" b="b"/>
              <a:pathLst>
                <a:path w="4225417" h="6732101">
                  <a:moveTo>
                    <a:pt x="0" y="184143"/>
                  </a:moveTo>
                  <a:cubicBezTo>
                    <a:pt x="0" y="82376"/>
                    <a:pt x="78232" y="0"/>
                    <a:pt x="174879" y="0"/>
                  </a:cubicBezTo>
                  <a:lnTo>
                    <a:pt x="4050538" y="0"/>
                  </a:lnTo>
                  <a:cubicBezTo>
                    <a:pt x="4147058" y="0"/>
                    <a:pt x="4225417" y="82376"/>
                    <a:pt x="4225417" y="184143"/>
                  </a:cubicBezTo>
                  <a:lnTo>
                    <a:pt x="4225417" y="6547960"/>
                  </a:lnTo>
                  <a:cubicBezTo>
                    <a:pt x="4225417" y="6649593"/>
                    <a:pt x="4147185" y="6732101"/>
                    <a:pt x="4050538" y="6732101"/>
                  </a:cubicBezTo>
                  <a:lnTo>
                    <a:pt x="174879" y="6732101"/>
                  </a:lnTo>
                  <a:cubicBezTo>
                    <a:pt x="78232" y="6732101"/>
                    <a:pt x="0" y="6649593"/>
                    <a:pt x="0" y="654796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D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10851522" y="5233584"/>
            <a:ext cx="3364969" cy="602151"/>
            <a:chOff x="0" y="0"/>
            <a:chExt cx="3800005" cy="6800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800000" cy="680004"/>
            </a:xfrm>
            <a:custGeom>
              <a:avLst/>
              <a:gdLst/>
              <a:ahLst/>
              <a:cxnLst/>
              <a:rect l="l" t="t" r="r" b="b"/>
              <a:pathLst>
                <a:path w="3800000" h="680004">
                  <a:moveTo>
                    <a:pt x="0" y="0"/>
                  </a:moveTo>
                  <a:lnTo>
                    <a:pt x="3800000" y="0"/>
                  </a:lnTo>
                  <a:lnTo>
                    <a:pt x="3800000" y="680004"/>
                  </a:lnTo>
                  <a:lnTo>
                    <a:pt x="0" y="6800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887" b="-58885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3800005" cy="718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Sawda Akter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1126314" y="6060062"/>
            <a:ext cx="2850004" cy="1550940"/>
            <a:chOff x="0" y="0"/>
            <a:chExt cx="3800005" cy="206792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800000" cy="2067925"/>
            </a:xfrm>
            <a:custGeom>
              <a:avLst/>
              <a:gdLst/>
              <a:ahLst/>
              <a:cxnLst/>
              <a:rect l="l" t="t" r="r" b="b"/>
              <a:pathLst>
                <a:path w="3800000" h="2067925">
                  <a:moveTo>
                    <a:pt x="0" y="0"/>
                  </a:moveTo>
                  <a:lnTo>
                    <a:pt x="3800000" y="0"/>
                  </a:lnTo>
                  <a:lnTo>
                    <a:pt x="3800000" y="2067925"/>
                  </a:lnTo>
                  <a:lnTo>
                    <a:pt x="0" y="2067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821" r="-19821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76200"/>
              <a:ext cx="3800005" cy="2144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18"/>
                </a:lnSpc>
              </a:pPr>
              <a:r>
                <a:rPr lang="en-US" sz="1824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UI &amp; Data Visualization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4427124" y="2571477"/>
            <a:ext cx="3169053" cy="5039525"/>
            <a:chOff x="0" y="0"/>
            <a:chExt cx="4225404" cy="6719367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225417" cy="6719405"/>
            </a:xfrm>
            <a:custGeom>
              <a:avLst/>
              <a:gdLst/>
              <a:ahLst/>
              <a:cxnLst/>
              <a:rect l="l" t="t" r="r" b="b"/>
              <a:pathLst>
                <a:path w="4225417" h="6719405">
                  <a:moveTo>
                    <a:pt x="0" y="183795"/>
                  </a:moveTo>
                  <a:cubicBezTo>
                    <a:pt x="0" y="82221"/>
                    <a:pt x="78232" y="0"/>
                    <a:pt x="174879" y="0"/>
                  </a:cubicBezTo>
                  <a:lnTo>
                    <a:pt x="4050538" y="0"/>
                  </a:lnTo>
                  <a:cubicBezTo>
                    <a:pt x="4147058" y="0"/>
                    <a:pt x="4225417" y="82221"/>
                    <a:pt x="4225417" y="183795"/>
                  </a:cubicBezTo>
                  <a:lnTo>
                    <a:pt x="4225417" y="6535612"/>
                  </a:lnTo>
                  <a:cubicBezTo>
                    <a:pt x="4225417" y="6637053"/>
                    <a:pt x="4147185" y="6719405"/>
                    <a:pt x="4050538" y="6719405"/>
                  </a:cubicBezTo>
                  <a:lnTo>
                    <a:pt x="174879" y="6719405"/>
                  </a:lnTo>
                  <a:cubicBezTo>
                    <a:pt x="78232" y="6719405"/>
                    <a:pt x="0" y="6637053"/>
                    <a:pt x="0" y="65356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9ED"/>
              </a:solidFill>
              <a:prstDash val="solid"/>
              <a:miter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14584987" y="5233584"/>
            <a:ext cx="2850004" cy="510000"/>
            <a:chOff x="0" y="0"/>
            <a:chExt cx="3800005" cy="6800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800000" cy="680004"/>
            </a:xfrm>
            <a:custGeom>
              <a:avLst/>
              <a:gdLst/>
              <a:ahLst/>
              <a:cxnLst/>
              <a:rect l="l" t="t" r="r" b="b"/>
              <a:pathLst>
                <a:path w="3800000" h="680004">
                  <a:moveTo>
                    <a:pt x="0" y="0"/>
                  </a:moveTo>
                  <a:lnTo>
                    <a:pt x="3800000" y="0"/>
                  </a:lnTo>
                  <a:lnTo>
                    <a:pt x="3800000" y="680004"/>
                  </a:lnTo>
                  <a:lnTo>
                    <a:pt x="0" y="6800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887" b="-58885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3800005" cy="718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1621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Ishraq Uddin Chowdhury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4937295" y="5707556"/>
            <a:ext cx="1975676" cy="698902"/>
            <a:chOff x="0" y="0"/>
            <a:chExt cx="2634234" cy="93186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634238" cy="931872"/>
            </a:xfrm>
            <a:custGeom>
              <a:avLst/>
              <a:gdLst/>
              <a:ahLst/>
              <a:cxnLst/>
              <a:rect l="l" t="t" r="r" b="b"/>
              <a:pathLst>
                <a:path w="2634238" h="931872">
                  <a:moveTo>
                    <a:pt x="0" y="0"/>
                  </a:moveTo>
                  <a:lnTo>
                    <a:pt x="2634238" y="0"/>
                  </a:lnTo>
                  <a:lnTo>
                    <a:pt x="2634238" y="931872"/>
                  </a:lnTo>
                  <a:lnTo>
                    <a:pt x="0" y="931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17" r="31669" b="31242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2634234" cy="969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 spc="223">
                  <a:solidFill>
                    <a:srgbClr val="6C4A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Chief Technology Officer</a:t>
              </a:r>
            </a:p>
            <a:p>
              <a:pPr algn="ctr">
                <a:lnSpc>
                  <a:spcPts val="1709"/>
                </a:lnSpc>
              </a:pPr>
              <a:endParaRPr lang="en-US" sz="1425" b="1" spc="223">
                <a:solidFill>
                  <a:srgbClr val="6C4AB6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4533616" y="6060062"/>
            <a:ext cx="2850004" cy="1550940"/>
            <a:chOff x="0" y="0"/>
            <a:chExt cx="3800005" cy="206792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800000" cy="2067925"/>
            </a:xfrm>
            <a:custGeom>
              <a:avLst/>
              <a:gdLst/>
              <a:ahLst/>
              <a:cxnLst/>
              <a:rect l="l" t="t" r="r" b="b"/>
              <a:pathLst>
                <a:path w="3800000" h="2067925">
                  <a:moveTo>
                    <a:pt x="0" y="0"/>
                  </a:moveTo>
                  <a:lnTo>
                    <a:pt x="3800000" y="0"/>
                  </a:lnTo>
                  <a:lnTo>
                    <a:pt x="3800000" y="2067925"/>
                  </a:lnTo>
                  <a:lnTo>
                    <a:pt x="0" y="2067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821" r="-19821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76200"/>
              <a:ext cx="3800005" cy="2144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18"/>
                </a:lnSpc>
              </a:pPr>
              <a:r>
                <a:rPr lang="en-US" sz="1824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Hardware, Networking &amp; Security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54380" y="8023860"/>
            <a:ext cx="16733520" cy="1303020"/>
            <a:chOff x="0" y="0"/>
            <a:chExt cx="22311360" cy="173736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2311361" cy="1737360"/>
            </a:xfrm>
            <a:custGeom>
              <a:avLst/>
              <a:gdLst/>
              <a:ahLst/>
              <a:cxnLst/>
              <a:rect l="l" t="t" r="r" b="b"/>
              <a:pathLst>
                <a:path w="22311361" h="1737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2128480" y="0"/>
                  </a:lnTo>
                  <a:cubicBezTo>
                    <a:pt x="22229445" y="0"/>
                    <a:pt x="22311361" y="81915"/>
                    <a:pt x="22311361" y="182880"/>
                  </a:cubicBezTo>
                  <a:lnTo>
                    <a:pt x="22311361" y="1554480"/>
                  </a:lnTo>
                  <a:cubicBezTo>
                    <a:pt x="22311361" y="1655445"/>
                    <a:pt x="22229445" y="1737360"/>
                    <a:pt x="22128480" y="1737360"/>
                  </a:cubicBezTo>
                  <a:lnTo>
                    <a:pt x="182880" y="1737360"/>
                  </a:lnTo>
                  <a:cubicBezTo>
                    <a:pt x="81915" y="1737360"/>
                    <a:pt x="0" y="1655445"/>
                    <a:pt x="0" y="1554480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1165860" y="8023860"/>
            <a:ext cx="15910560" cy="1303020"/>
            <a:chOff x="0" y="0"/>
            <a:chExt cx="21214080" cy="173736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1214080" cy="1737360"/>
            </a:xfrm>
            <a:custGeom>
              <a:avLst/>
              <a:gdLst/>
              <a:ahLst/>
              <a:cxnLst/>
              <a:rect l="l" t="t" r="r" b="b"/>
              <a:pathLst>
                <a:path w="21214080" h="1737360">
                  <a:moveTo>
                    <a:pt x="0" y="0"/>
                  </a:moveTo>
                  <a:lnTo>
                    <a:pt x="21214080" y="0"/>
                  </a:lnTo>
                  <a:lnTo>
                    <a:pt x="212140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7922" b="-187922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21214080" cy="1775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89"/>
                </a:lnSpc>
              </a:pPr>
              <a:r>
                <a:rPr lang="en-US" sz="2074" b="1">
                  <a:solidFill>
                    <a:srgbClr val="F299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Supervisor: </a:t>
              </a:r>
              <a:r>
                <a:rPr lang="en-US" sz="2074">
                  <a:solidFill>
                    <a:srgbClr val="E7EE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Mrinmoy Biswas Akash — Lecturer &amp; Course Coordinator, Department of CSE, University of Information Technology &amp; Sciences (UITS)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754380" y="9601200"/>
            <a:ext cx="4114800" cy="480060"/>
            <a:chOff x="0" y="0"/>
            <a:chExt cx="5486400" cy="64008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486400" cy="640080"/>
            </a:xfrm>
            <a:custGeom>
              <a:avLst/>
              <a:gdLst/>
              <a:ahLst/>
              <a:cxnLst/>
              <a:rect l="l" t="t" r="r" b="b"/>
              <a:pathLst>
                <a:path w="5486400" h="640080">
                  <a:moveTo>
                    <a:pt x="0" y="0"/>
                  </a:moveTo>
                  <a:lnTo>
                    <a:pt x="5486400" y="0"/>
                  </a:lnTo>
                  <a:lnTo>
                    <a:pt x="5486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14" b="-117014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54864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50">
                  <a:solidFill>
                    <a:srgbClr val="5B6B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MONOJOG+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7053103" y="9601200"/>
            <a:ext cx="822960" cy="480060"/>
            <a:chOff x="0" y="0"/>
            <a:chExt cx="1097280" cy="64008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80" h="6400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355677" y="2929488"/>
            <a:ext cx="1834464" cy="2087292"/>
            <a:chOff x="0" y="0"/>
            <a:chExt cx="1811274" cy="2060905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811274" cy="2060956"/>
            </a:xfrm>
            <a:custGeom>
              <a:avLst/>
              <a:gdLst/>
              <a:ahLst/>
              <a:cxnLst/>
              <a:rect l="l" t="t" r="r" b="b"/>
              <a:pathLst>
                <a:path w="1811274" h="2060956">
                  <a:moveTo>
                    <a:pt x="0" y="0"/>
                  </a:moveTo>
                  <a:lnTo>
                    <a:pt x="1811274" y="0"/>
                  </a:lnTo>
                  <a:lnTo>
                    <a:pt x="1811274" y="2060956"/>
                  </a:lnTo>
                  <a:lnTo>
                    <a:pt x="0" y="2060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78" b="-478"/>
              </a:stretch>
            </a:blipFill>
          </p:spPr>
        </p:sp>
      </p:grpSp>
      <p:grpSp>
        <p:nvGrpSpPr>
          <p:cNvPr id="73" name="Group 73"/>
          <p:cNvGrpSpPr/>
          <p:nvPr/>
        </p:nvGrpSpPr>
        <p:grpSpPr>
          <a:xfrm>
            <a:off x="4801291" y="2919175"/>
            <a:ext cx="1866270" cy="2123481"/>
            <a:chOff x="0" y="0"/>
            <a:chExt cx="1811274" cy="2060905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811274" cy="2060956"/>
            </a:xfrm>
            <a:custGeom>
              <a:avLst/>
              <a:gdLst/>
              <a:ahLst/>
              <a:cxnLst/>
              <a:rect l="l" t="t" r="r" b="b"/>
              <a:pathLst>
                <a:path w="1811274" h="2060956">
                  <a:moveTo>
                    <a:pt x="0" y="0"/>
                  </a:moveTo>
                  <a:lnTo>
                    <a:pt x="1811274" y="0"/>
                  </a:lnTo>
                  <a:lnTo>
                    <a:pt x="1811274" y="2060956"/>
                  </a:lnTo>
                  <a:lnTo>
                    <a:pt x="0" y="2060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2074" r="-12074"/>
              </a:stretch>
            </a:blipFill>
          </p:spPr>
        </p:sp>
      </p:grpSp>
      <p:grpSp>
        <p:nvGrpSpPr>
          <p:cNvPr id="75" name="Group 75"/>
          <p:cNvGrpSpPr/>
          <p:nvPr/>
        </p:nvGrpSpPr>
        <p:grpSpPr>
          <a:xfrm>
            <a:off x="8199499" y="2929488"/>
            <a:ext cx="1889011" cy="2149356"/>
            <a:chOff x="0" y="0"/>
            <a:chExt cx="1811274" cy="2060905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811274" cy="2060956"/>
            </a:xfrm>
            <a:custGeom>
              <a:avLst/>
              <a:gdLst/>
              <a:ahLst/>
              <a:cxnLst/>
              <a:rect l="l" t="t" r="r" b="b"/>
              <a:pathLst>
                <a:path w="1811274" h="2060956">
                  <a:moveTo>
                    <a:pt x="0" y="0"/>
                  </a:moveTo>
                  <a:lnTo>
                    <a:pt x="1811274" y="0"/>
                  </a:lnTo>
                  <a:lnTo>
                    <a:pt x="1811274" y="2060956"/>
                  </a:lnTo>
                  <a:lnTo>
                    <a:pt x="0" y="2060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183" r="-7183"/>
              </a:stretch>
            </a:blipFill>
          </p:spPr>
        </p:sp>
      </p:grpSp>
      <p:grpSp>
        <p:nvGrpSpPr>
          <p:cNvPr id="77" name="Group 77"/>
          <p:cNvGrpSpPr/>
          <p:nvPr/>
        </p:nvGrpSpPr>
        <p:grpSpPr>
          <a:xfrm>
            <a:off x="11604831" y="2894165"/>
            <a:ext cx="1858350" cy="2185974"/>
            <a:chOff x="0" y="0"/>
            <a:chExt cx="1980337" cy="2329466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980337" cy="2329517"/>
            </a:xfrm>
            <a:custGeom>
              <a:avLst/>
              <a:gdLst/>
              <a:ahLst/>
              <a:cxnLst/>
              <a:rect l="l" t="t" r="r" b="b"/>
              <a:pathLst>
                <a:path w="1980337" h="2329517">
                  <a:moveTo>
                    <a:pt x="0" y="0"/>
                  </a:moveTo>
                  <a:lnTo>
                    <a:pt x="1980337" y="0"/>
                  </a:lnTo>
                  <a:lnTo>
                    <a:pt x="1980337" y="2329517"/>
                  </a:lnTo>
                  <a:lnTo>
                    <a:pt x="0" y="232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7477" b="-7477"/>
              </a:stretch>
            </a:blipFill>
          </p:spPr>
        </p:sp>
      </p:grpSp>
      <p:grpSp>
        <p:nvGrpSpPr>
          <p:cNvPr id="79" name="Group 79"/>
          <p:cNvGrpSpPr/>
          <p:nvPr/>
        </p:nvGrpSpPr>
        <p:grpSpPr>
          <a:xfrm>
            <a:off x="15053707" y="2929488"/>
            <a:ext cx="1912565" cy="2176156"/>
            <a:chOff x="0" y="0"/>
            <a:chExt cx="1811274" cy="2060905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811274" cy="2060956"/>
            </a:xfrm>
            <a:custGeom>
              <a:avLst/>
              <a:gdLst/>
              <a:ahLst/>
              <a:cxnLst/>
              <a:rect l="l" t="t" r="r" b="b"/>
              <a:pathLst>
                <a:path w="1811274" h="2060956">
                  <a:moveTo>
                    <a:pt x="0" y="0"/>
                  </a:moveTo>
                  <a:lnTo>
                    <a:pt x="1811274" y="0"/>
                  </a:lnTo>
                  <a:lnTo>
                    <a:pt x="1811274" y="2060956"/>
                  </a:lnTo>
                  <a:lnTo>
                    <a:pt x="0" y="2060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8086" b="-8086"/>
              </a:stretch>
            </a:blipFill>
          </p:spPr>
        </p:sp>
      </p:grpSp>
      <p:grpSp>
        <p:nvGrpSpPr>
          <p:cNvPr id="81" name="Group 81"/>
          <p:cNvGrpSpPr/>
          <p:nvPr/>
        </p:nvGrpSpPr>
        <p:grpSpPr>
          <a:xfrm>
            <a:off x="8133302" y="5707556"/>
            <a:ext cx="1975676" cy="698902"/>
            <a:chOff x="0" y="0"/>
            <a:chExt cx="2634234" cy="931869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2634238" cy="931872"/>
            </a:xfrm>
            <a:custGeom>
              <a:avLst/>
              <a:gdLst/>
              <a:ahLst/>
              <a:cxnLst/>
              <a:rect l="l" t="t" r="r" b="b"/>
              <a:pathLst>
                <a:path w="2634238" h="931872">
                  <a:moveTo>
                    <a:pt x="0" y="0"/>
                  </a:moveTo>
                  <a:lnTo>
                    <a:pt x="2634238" y="0"/>
                  </a:lnTo>
                  <a:lnTo>
                    <a:pt x="2634238" y="931872"/>
                  </a:lnTo>
                  <a:lnTo>
                    <a:pt x="0" y="931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17" r="31669" b="31242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38100"/>
              <a:ext cx="2634234" cy="969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 spc="223">
                  <a:solidFill>
                    <a:srgbClr val="6C4A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Chief Marketing Officer</a:t>
              </a:r>
            </a:p>
            <a:p>
              <a:pPr algn="ctr">
                <a:lnSpc>
                  <a:spcPts val="1709"/>
                </a:lnSpc>
              </a:pPr>
              <a:endParaRPr lang="en-US" sz="1425" b="1" spc="223">
                <a:solidFill>
                  <a:srgbClr val="6C4AB6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1563474" y="5707556"/>
            <a:ext cx="1975676" cy="698902"/>
            <a:chOff x="0" y="0"/>
            <a:chExt cx="2634234" cy="931869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2634238" cy="931872"/>
            </a:xfrm>
            <a:custGeom>
              <a:avLst/>
              <a:gdLst/>
              <a:ahLst/>
              <a:cxnLst/>
              <a:rect l="l" t="t" r="r" b="b"/>
              <a:pathLst>
                <a:path w="2634238" h="931872">
                  <a:moveTo>
                    <a:pt x="0" y="0"/>
                  </a:moveTo>
                  <a:lnTo>
                    <a:pt x="2634238" y="0"/>
                  </a:lnTo>
                  <a:lnTo>
                    <a:pt x="2634238" y="931872"/>
                  </a:lnTo>
                  <a:lnTo>
                    <a:pt x="0" y="931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17" r="31669" b="31242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38100"/>
              <a:ext cx="2634234" cy="969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 spc="223">
                  <a:solidFill>
                    <a:srgbClr val="6C4A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Chief Product Officer</a:t>
              </a:r>
            </a:p>
            <a:p>
              <a:pPr algn="ctr">
                <a:lnSpc>
                  <a:spcPts val="1709"/>
                </a:lnSpc>
              </a:pPr>
              <a:endParaRPr lang="en-US" sz="1425" b="1" spc="223">
                <a:solidFill>
                  <a:srgbClr val="6C4AB6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4748922" y="5671860"/>
            <a:ext cx="1975676" cy="701957"/>
            <a:chOff x="0" y="0"/>
            <a:chExt cx="2634234" cy="935942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2634238" cy="935946"/>
            </a:xfrm>
            <a:custGeom>
              <a:avLst/>
              <a:gdLst/>
              <a:ahLst/>
              <a:cxnLst/>
              <a:rect l="l" t="t" r="r" b="b"/>
              <a:pathLst>
                <a:path w="2634238" h="935946">
                  <a:moveTo>
                    <a:pt x="0" y="0"/>
                  </a:moveTo>
                  <a:lnTo>
                    <a:pt x="2634238" y="0"/>
                  </a:lnTo>
                  <a:lnTo>
                    <a:pt x="2634238" y="935946"/>
                  </a:lnTo>
                  <a:lnTo>
                    <a:pt x="0" y="9359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88" r="31669" b="31542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38100"/>
              <a:ext cx="2634234" cy="9740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 spc="223">
                  <a:solidFill>
                    <a:srgbClr val="6C4A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Chief Operating Officer</a:t>
              </a:r>
            </a:p>
            <a:p>
              <a:pPr algn="ctr">
                <a:lnSpc>
                  <a:spcPts val="1709"/>
                </a:lnSpc>
              </a:pPr>
              <a:endParaRPr lang="en-US" sz="1425" b="1" spc="223">
                <a:solidFill>
                  <a:srgbClr val="6C4AB6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366866" y="5707556"/>
            <a:ext cx="1975676" cy="698902"/>
            <a:chOff x="0" y="0"/>
            <a:chExt cx="2634234" cy="931869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2634238" cy="931872"/>
            </a:xfrm>
            <a:custGeom>
              <a:avLst/>
              <a:gdLst/>
              <a:ahLst/>
              <a:cxnLst/>
              <a:rect l="l" t="t" r="r" b="b"/>
              <a:pathLst>
                <a:path w="2634238" h="931872">
                  <a:moveTo>
                    <a:pt x="0" y="0"/>
                  </a:moveTo>
                  <a:lnTo>
                    <a:pt x="2634238" y="0"/>
                  </a:lnTo>
                  <a:lnTo>
                    <a:pt x="2634238" y="931872"/>
                  </a:lnTo>
                  <a:lnTo>
                    <a:pt x="0" y="931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17" r="31669" b="31242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-38100"/>
              <a:ext cx="2634234" cy="969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 spc="223">
                  <a:solidFill>
                    <a:srgbClr val="6C4A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Chief Executive Officer</a:t>
              </a:r>
            </a:p>
            <a:p>
              <a:pPr algn="ctr">
                <a:lnSpc>
                  <a:spcPts val="1709"/>
                </a:lnSpc>
              </a:pPr>
              <a:endParaRPr lang="en-US" sz="1425" b="1" spc="223">
                <a:solidFill>
                  <a:srgbClr val="6C4AB6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34440" y="-1234440"/>
            <a:ext cx="6035040" cy="6035040"/>
            <a:chOff x="0" y="0"/>
            <a:chExt cx="8046720" cy="80467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046720" cy="8046720"/>
            </a:xfrm>
            <a:custGeom>
              <a:avLst/>
              <a:gdLst/>
              <a:ahLst/>
              <a:cxnLst/>
              <a:rect l="l" t="t" r="r" b="b"/>
              <a:pathLst>
                <a:path w="8046720" h="8046720">
                  <a:moveTo>
                    <a:pt x="0" y="8046720"/>
                  </a:moveTo>
                  <a:lnTo>
                    <a:pt x="4023360" y="0"/>
                  </a:lnTo>
                  <a:lnTo>
                    <a:pt x="8046720" y="8046720"/>
                  </a:lnTo>
                  <a:close/>
                </a:path>
              </a:pathLst>
            </a:custGeom>
            <a:solidFill>
              <a:srgbClr val="1C7293">
                <a:alpha val="20000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685800" y="-685800"/>
            <a:ext cx="3566160" cy="3566160"/>
            <a:chOff x="0" y="0"/>
            <a:chExt cx="4754880" cy="47548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54880" cy="4754880"/>
            </a:xfrm>
            <a:custGeom>
              <a:avLst/>
              <a:gdLst/>
              <a:ahLst/>
              <a:cxnLst/>
              <a:rect l="l" t="t" r="r" b="b"/>
              <a:pathLst>
                <a:path w="4754880" h="4754880">
                  <a:moveTo>
                    <a:pt x="0" y="4754880"/>
                  </a:moveTo>
                  <a:lnTo>
                    <a:pt x="2377440" y="0"/>
                  </a:lnTo>
                  <a:lnTo>
                    <a:pt x="4754880" y="4754880"/>
                  </a:lnTo>
                  <a:close/>
                </a:path>
              </a:pathLst>
            </a:custGeom>
            <a:solidFill>
              <a:srgbClr val="F2994A">
                <a:alpha val="41961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 rot="-10800000">
            <a:off x="13349783" y="5349240"/>
            <a:ext cx="6035040" cy="6035040"/>
            <a:chOff x="0" y="0"/>
            <a:chExt cx="8046720" cy="80467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046720" cy="8046720"/>
            </a:xfrm>
            <a:custGeom>
              <a:avLst/>
              <a:gdLst/>
              <a:ahLst/>
              <a:cxnLst/>
              <a:rect l="l" t="t" r="r" b="b"/>
              <a:pathLst>
                <a:path w="8046720" h="8046720">
                  <a:moveTo>
                    <a:pt x="0" y="8046720"/>
                  </a:moveTo>
                  <a:lnTo>
                    <a:pt x="4023360" y="0"/>
                  </a:lnTo>
                  <a:lnTo>
                    <a:pt x="8046720" y="8046720"/>
                  </a:lnTo>
                  <a:close/>
                </a:path>
              </a:pathLst>
            </a:custGeom>
            <a:solidFill>
              <a:srgbClr val="1C7293">
                <a:alpha val="15686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 rot="-10800000">
            <a:off x="15407183" y="7406640"/>
            <a:ext cx="3291840" cy="3291840"/>
            <a:chOff x="0" y="0"/>
            <a:chExt cx="4389120" cy="4389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89120" cy="4389120"/>
            </a:xfrm>
            <a:custGeom>
              <a:avLst/>
              <a:gdLst/>
              <a:ahLst/>
              <a:cxnLst/>
              <a:rect l="l" t="t" r="r" b="b"/>
              <a:pathLst>
                <a:path w="4389120" h="4389120">
                  <a:moveTo>
                    <a:pt x="0" y="4389120"/>
                  </a:moveTo>
                  <a:lnTo>
                    <a:pt x="2194560" y="0"/>
                  </a:lnTo>
                  <a:lnTo>
                    <a:pt x="4389120" y="4389120"/>
                  </a:lnTo>
                  <a:close/>
                </a:path>
              </a:pathLst>
            </a:custGeom>
            <a:solidFill>
              <a:srgbClr val="3DC9A6">
                <a:alpha val="20000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0" y="3497580"/>
            <a:ext cx="18287543" cy="1645920"/>
            <a:chOff x="0" y="0"/>
            <a:chExt cx="24383390" cy="21945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3391" cy="2194560"/>
            </a:xfrm>
            <a:custGeom>
              <a:avLst/>
              <a:gdLst/>
              <a:ahLst/>
              <a:cxnLst/>
              <a:rect l="l" t="t" r="r" b="b"/>
              <a:pathLst>
                <a:path w="24383391" h="2194560">
                  <a:moveTo>
                    <a:pt x="0" y="0"/>
                  </a:moveTo>
                  <a:lnTo>
                    <a:pt x="24383391" y="0"/>
                  </a:lnTo>
                  <a:lnTo>
                    <a:pt x="2438339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495" b="-166495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4383390" cy="22136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720"/>
                </a:lnSpc>
              </a:pPr>
              <a:r>
                <a:rPr lang="en-US" sz="81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 rot="54240">
            <a:off x="7331888" y="5129212"/>
            <a:ext cx="3623758" cy="0"/>
          </a:xfrm>
          <a:prstGeom prst="line">
            <a:avLst/>
          </a:prstGeom>
          <a:ln w="28575" cap="rnd">
            <a:solidFill>
              <a:srgbClr val="F2994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2057400" y="5417820"/>
            <a:ext cx="14172743" cy="960120"/>
            <a:chOff x="0" y="0"/>
            <a:chExt cx="18896990" cy="12801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896991" cy="1280160"/>
            </a:xfrm>
            <a:custGeom>
              <a:avLst/>
              <a:gdLst/>
              <a:ahLst/>
              <a:cxnLst/>
              <a:rect l="l" t="t" r="r" b="b"/>
              <a:pathLst>
                <a:path w="18896991" h="1280160">
                  <a:moveTo>
                    <a:pt x="0" y="0"/>
                  </a:moveTo>
                  <a:lnTo>
                    <a:pt x="18896991" y="0"/>
                  </a:lnTo>
                  <a:lnTo>
                    <a:pt x="1889699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7626" b="-237626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8896990" cy="13373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19"/>
                </a:lnSpc>
              </a:pPr>
              <a:r>
                <a:rPr lang="en-US" sz="2349" i="1">
                  <a:solidFill>
                    <a:srgbClr val="CADCE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MONOJOG+  —  Helping every child build the attention they need to learn, grow, and thrive.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0" y="6926580"/>
            <a:ext cx="18287543" cy="548640"/>
            <a:chOff x="0" y="0"/>
            <a:chExt cx="24383390" cy="7315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383391" cy="731520"/>
            </a:xfrm>
            <a:custGeom>
              <a:avLst/>
              <a:gdLst/>
              <a:ahLst/>
              <a:cxnLst/>
              <a:rect l="l" t="t" r="r" b="b"/>
              <a:pathLst>
                <a:path w="24383391" h="731520">
                  <a:moveTo>
                    <a:pt x="0" y="0"/>
                  </a:moveTo>
                  <a:lnTo>
                    <a:pt x="24383391" y="0"/>
                  </a:lnTo>
                  <a:lnTo>
                    <a:pt x="2438339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9485" b="-59948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2438339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69"/>
                </a:lnSpc>
              </a:pPr>
              <a:r>
                <a:rPr lang="en-US" sz="1974" b="1" spc="315">
                  <a:solidFill>
                    <a:srgbClr val="5FA8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Questions &amp; Live Demonstration Welcome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0" y="9023985"/>
            <a:ext cx="18287543" cy="57721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2099"/>
              </a:lnSpc>
            </a:pPr>
            <a:r>
              <a:rPr lang="en-US" sz="1749" dirty="0">
                <a:solidFill>
                  <a:srgbClr val="7C93A8"/>
                </a:solidFill>
                <a:latin typeface="Calibri (MS)"/>
                <a:ea typeface="Calibri (MS)"/>
                <a:cs typeface="Calibri (MS)"/>
                <a:sym typeface="Calibri (MS)"/>
              </a:rPr>
              <a:t>Team MONOJOG+ :  University of Information Technology &amp; Sciences (UITS)  ·  Bangladesh ICT &amp; Innovation Awards </a:t>
            </a:r>
            <a:r>
              <a:rPr lang="en-US" sz="1749" dirty="0" smtClean="0">
                <a:solidFill>
                  <a:srgbClr val="7C93A8"/>
                </a:solidFill>
                <a:latin typeface="Calibri (MS)"/>
                <a:ea typeface="Calibri (MS)"/>
                <a:cs typeface="Calibri (MS)"/>
                <a:sym typeface="Calibri (MS)"/>
              </a:rPr>
              <a:t>2026</a:t>
            </a:r>
            <a:endParaRPr lang="en-US" sz="1749" dirty="0">
              <a:solidFill>
                <a:srgbClr val="7C93A8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89A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1667" y="4199321"/>
            <a:ext cx="4251270" cy="1793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17"/>
              </a:lnSpc>
            </a:pPr>
            <a:r>
              <a:rPr lang="en-US" sz="515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MONOJOG+DASHBOARD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632270" y="0"/>
            <a:ext cx="13655730" cy="10650429"/>
            <a:chOff x="0" y="0"/>
            <a:chExt cx="18207640" cy="142005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207640" cy="8411229"/>
            </a:xfrm>
            <a:custGeom>
              <a:avLst/>
              <a:gdLst/>
              <a:ahLst/>
              <a:cxnLst/>
              <a:rect l="l" t="t" r="r" b="b"/>
              <a:pathLst>
                <a:path w="18207640" h="8411229">
                  <a:moveTo>
                    <a:pt x="0" y="0"/>
                  </a:moveTo>
                  <a:lnTo>
                    <a:pt x="18207640" y="0"/>
                  </a:lnTo>
                  <a:lnTo>
                    <a:pt x="18207640" y="8411229"/>
                  </a:lnTo>
                  <a:lnTo>
                    <a:pt x="0" y="84112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80" r="-1979" b="-980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0" y="8168587"/>
              <a:ext cx="18207640" cy="6031985"/>
            </a:xfrm>
            <a:custGeom>
              <a:avLst/>
              <a:gdLst/>
              <a:ahLst/>
              <a:cxnLst/>
              <a:rect l="l" t="t" r="r" b="b"/>
              <a:pathLst>
                <a:path w="18207640" h="6031985">
                  <a:moveTo>
                    <a:pt x="0" y="0"/>
                  </a:moveTo>
                  <a:lnTo>
                    <a:pt x="18207640" y="0"/>
                  </a:lnTo>
                  <a:lnTo>
                    <a:pt x="18207640" y="6031985"/>
                  </a:lnTo>
                  <a:lnTo>
                    <a:pt x="0" y="6031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870" b="-1475"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32799" y="2057415"/>
            <a:ext cx="13084230" cy="5855193"/>
          </a:xfrm>
          <a:custGeom>
            <a:avLst/>
            <a:gdLst/>
            <a:ahLst/>
            <a:cxnLst/>
            <a:rect l="l" t="t" r="r" b="b"/>
            <a:pathLst>
              <a:path w="13084230" h="5855193">
                <a:moveTo>
                  <a:pt x="0" y="0"/>
                </a:moveTo>
                <a:lnTo>
                  <a:pt x="13084231" y="0"/>
                </a:lnTo>
                <a:lnTo>
                  <a:pt x="13084231" y="5855193"/>
                </a:lnTo>
                <a:lnTo>
                  <a:pt x="0" y="58551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1529</Words>
  <Application>Microsoft Office PowerPoint</Application>
  <PresentationFormat>Custom</PresentationFormat>
  <Paragraphs>230</Paragraphs>
  <Slides>18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Cambria Bold</vt:lpstr>
      <vt:lpstr>Calibri (MS)</vt:lpstr>
      <vt:lpstr>Calibri (MS) Bold</vt:lpstr>
      <vt:lpstr>Calibri (MS) Italics</vt:lpstr>
      <vt:lpstr>Calibri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MONOJOG_Plus_Pitch_Deck (1).pptx</dc:title>
  <dc:creator>Abida Chowdhury's</dc:creator>
  <cp:lastModifiedBy>user</cp:lastModifiedBy>
  <cp:revision>5</cp:revision>
  <dcterms:created xsi:type="dcterms:W3CDTF">2006-08-16T00:00:00Z</dcterms:created>
  <dcterms:modified xsi:type="dcterms:W3CDTF">2026-09-18T21:09:19Z</dcterms:modified>
  <dc:identifier>DAHUxc93Xok</dc:identifier>
</cp:coreProperties>
</file>